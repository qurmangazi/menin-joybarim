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6" r:id="rId2"/>
    <p:sldId id="267" r:id="rId3"/>
    <p:sldId id="258" r:id="rId4"/>
    <p:sldId id="257" r:id="rId5"/>
    <p:sldId id="259" r:id="rId6"/>
    <p:sldId id="260" r:id="rId7"/>
    <p:sldId id="261" r:id="rId8"/>
    <p:sldId id="263" r:id="rId9"/>
    <p:sldId id="264" r:id="rId10"/>
    <p:sldId id="265"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93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zara Afişinde Dünya Süt Günü Inek Sürahi Camı Vektör çizimi Şablon  Pngtree'de İndirme">
            <a:extLst>
              <a:ext uri="{FF2B5EF4-FFF2-40B4-BE49-F238E27FC236}">
                <a16:creationId xmlns:a16="http://schemas.microsoft.com/office/drawing/2014/main" id="{10DCDDB8-A637-3921-E906-0B79DE9F0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013" y="-302456"/>
            <a:ext cx="7491046" cy="53826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EA30130-E74C-9DEF-2669-215A88A510A5}"/>
              </a:ext>
            </a:extLst>
          </p:cNvPr>
          <p:cNvSpPr txBox="1"/>
          <p:nvPr/>
        </p:nvSpPr>
        <p:spPr>
          <a:xfrm>
            <a:off x="2321169" y="535357"/>
            <a:ext cx="5254284" cy="769441"/>
          </a:xfrm>
          <a:prstGeom prst="rect">
            <a:avLst/>
          </a:prstGeom>
          <a:noFill/>
        </p:spPr>
        <p:txBody>
          <a:bodyPr wrap="square">
            <a:spAutoFit/>
          </a:bodyPr>
          <a:lstStyle/>
          <a:p>
            <a:pPr marL="0" indent="0" algn="l">
              <a:buNone/>
            </a:pPr>
            <a:r>
              <a:rPr lang="en-US" sz="2200" b="1" dirty="0" err="1">
                <a:solidFill>
                  <a:srgbClr val="FFFFFF"/>
                </a:solidFill>
                <a:highlight>
                  <a:srgbClr val="C0C0C0"/>
                </a:highlight>
                <a:latin typeface="Cambria" pitchFamily="34" charset="0"/>
                <a:ea typeface="Cambria" pitchFamily="34" charset="-122"/>
                <a:cs typeface="Cambria" pitchFamily="34" charset="-120"/>
              </a:rPr>
              <a:t>Joybar</a:t>
            </a:r>
            <a:r>
              <a:rPr lang="en-US" sz="2200" b="1" dirty="0">
                <a:solidFill>
                  <a:srgbClr val="FFFFFF"/>
                </a:solidFill>
                <a:highlight>
                  <a:srgbClr val="C0C0C0"/>
                </a:highlight>
                <a:latin typeface="Cambria" pitchFamily="34" charset="0"/>
                <a:ea typeface="Cambria" pitchFamily="34" charset="-122"/>
                <a:cs typeface="Cambria" pitchFamily="34" charset="-120"/>
              </a:rPr>
              <a:t> at</a:t>
            </a:r>
            <a:r>
              <a:rPr lang="uz-Latn-UZ" sz="2200" b="1" dirty="0">
                <a:solidFill>
                  <a:srgbClr val="FFFFFF"/>
                </a:solidFill>
                <a:highlight>
                  <a:srgbClr val="C0C0C0"/>
                </a:highlight>
                <a:latin typeface="Cambria" pitchFamily="34" charset="0"/>
                <a:ea typeface="Cambria" pitchFamily="34" charset="-122"/>
                <a:cs typeface="Cambria" pitchFamily="34" charset="-120"/>
              </a:rPr>
              <a:t>ı</a:t>
            </a:r>
            <a:r>
              <a:rPr lang="en-US" sz="2200" b="1" dirty="0">
                <a:solidFill>
                  <a:srgbClr val="FFFFFF"/>
                </a:solidFill>
                <a:highlight>
                  <a:srgbClr val="C0C0C0"/>
                </a:highlight>
                <a:latin typeface="Cambria" pitchFamily="34" charset="0"/>
                <a:ea typeface="Cambria" pitchFamily="34" charset="-122"/>
                <a:cs typeface="Cambria" pitchFamily="34" charset="-120"/>
              </a:rPr>
              <a:t>:</a:t>
            </a:r>
            <a:r>
              <a:rPr lang="uz-Latn-UZ" sz="2200" b="1" dirty="0">
                <a:solidFill>
                  <a:srgbClr val="FFFFFF"/>
                </a:solidFill>
                <a:highlight>
                  <a:srgbClr val="C0C0C0"/>
                </a:highlight>
                <a:latin typeface="Cambria" pitchFamily="34" charset="0"/>
                <a:ea typeface="Cambria" pitchFamily="34" charset="-122"/>
                <a:cs typeface="Cambria" pitchFamily="34" charset="-120"/>
              </a:rPr>
              <a:t> </a:t>
            </a:r>
            <a:r>
              <a:rPr lang="en-US" sz="2200" b="1" dirty="0" err="1">
                <a:solidFill>
                  <a:srgbClr val="FFFFFF"/>
                </a:solidFill>
                <a:highlight>
                  <a:srgbClr val="C0C0C0"/>
                </a:highlight>
                <a:latin typeface="Cambria" pitchFamily="34" charset="0"/>
                <a:ea typeface="Cambria" pitchFamily="34" charset="-122"/>
                <a:cs typeface="Cambria" pitchFamily="34" charset="-120"/>
              </a:rPr>
              <a:t>Sút</a:t>
            </a:r>
            <a:r>
              <a:rPr lang="en-US" sz="2200" b="1" dirty="0">
                <a:solidFill>
                  <a:srgbClr val="FFFFFF"/>
                </a:solidFill>
                <a:highlight>
                  <a:srgbClr val="C0C0C0"/>
                </a:highlight>
                <a:latin typeface="Cambria" pitchFamily="34" charset="0"/>
                <a:ea typeface="Cambria" pitchFamily="34" charset="-122"/>
                <a:cs typeface="Cambria" pitchFamily="34" charset="-120"/>
              </a:rPr>
              <a:t> </a:t>
            </a:r>
            <a:r>
              <a:rPr lang="en-US" sz="2200" b="1" dirty="0" err="1">
                <a:solidFill>
                  <a:srgbClr val="FFFFFF"/>
                </a:solidFill>
                <a:highlight>
                  <a:srgbClr val="C0C0C0"/>
                </a:highlight>
                <a:latin typeface="Cambria" pitchFamily="34" charset="0"/>
                <a:ea typeface="Cambria" pitchFamily="34" charset="-122"/>
                <a:cs typeface="Cambria" pitchFamily="34" charset="-120"/>
              </a:rPr>
              <a:t>ónimlerin</a:t>
            </a:r>
            <a:r>
              <a:rPr lang="en-US" sz="2200" b="1" dirty="0">
                <a:solidFill>
                  <a:srgbClr val="FFFFFF"/>
                </a:solidFill>
                <a:highlight>
                  <a:srgbClr val="C0C0C0"/>
                </a:highlight>
                <a:latin typeface="Cambria" pitchFamily="34" charset="0"/>
                <a:ea typeface="Cambria" pitchFamily="34" charset="-122"/>
                <a:cs typeface="Cambria" pitchFamily="34" charset="-120"/>
              </a:rPr>
              <a:t> </a:t>
            </a:r>
            <a:r>
              <a:rPr lang="en-US" sz="2200" b="1" dirty="0" err="1">
                <a:solidFill>
                  <a:srgbClr val="FFFFFF"/>
                </a:solidFill>
                <a:highlight>
                  <a:srgbClr val="C0C0C0"/>
                </a:highlight>
                <a:latin typeface="Cambria" pitchFamily="34" charset="0"/>
                <a:ea typeface="Cambria" pitchFamily="34" charset="-122"/>
                <a:cs typeface="Cambria" pitchFamily="34" charset="-120"/>
              </a:rPr>
              <a:t>jazılıw</a:t>
            </a:r>
            <a:endParaRPr lang="en-US" sz="2200" dirty="0">
              <a:highlight>
                <a:srgbClr val="C0C0C0"/>
              </a:highlight>
            </a:endParaRPr>
          </a:p>
          <a:p>
            <a:pPr marL="0" indent="0" algn="l">
              <a:buNone/>
            </a:pPr>
            <a:r>
              <a:rPr lang="en-US" sz="2200" b="1" dirty="0" err="1">
                <a:solidFill>
                  <a:srgbClr val="FFFFFF"/>
                </a:solidFill>
                <a:highlight>
                  <a:srgbClr val="C0C0C0"/>
                </a:highlight>
                <a:latin typeface="Cambria" pitchFamily="34" charset="0"/>
                <a:ea typeface="Cambria" pitchFamily="34" charset="-122"/>
                <a:cs typeface="Cambria" pitchFamily="34" charset="-120"/>
              </a:rPr>
              <a:t>tiykarında</a:t>
            </a:r>
            <a:r>
              <a:rPr lang="en-US" sz="2200" b="1" dirty="0">
                <a:solidFill>
                  <a:srgbClr val="FFFFFF"/>
                </a:solidFill>
                <a:highlight>
                  <a:srgbClr val="C0C0C0"/>
                </a:highlight>
                <a:latin typeface="Cambria" pitchFamily="34" charset="0"/>
                <a:ea typeface="Cambria" pitchFamily="34" charset="-122"/>
                <a:cs typeface="Cambria" pitchFamily="34" charset="-120"/>
              </a:rPr>
              <a:t> </a:t>
            </a:r>
            <a:r>
              <a:rPr lang="en-US" sz="2200" b="1" dirty="0" err="1">
                <a:solidFill>
                  <a:srgbClr val="FFFFFF"/>
                </a:solidFill>
                <a:highlight>
                  <a:srgbClr val="C0C0C0"/>
                </a:highlight>
                <a:latin typeface="Cambria" pitchFamily="34" charset="0"/>
                <a:ea typeface="Cambria" pitchFamily="34" charset="-122"/>
                <a:cs typeface="Cambria" pitchFamily="34" charset="-120"/>
              </a:rPr>
              <a:t>jetkerip</a:t>
            </a:r>
            <a:r>
              <a:rPr lang="en-US" sz="2200" b="1" dirty="0">
                <a:solidFill>
                  <a:srgbClr val="FFFFFF"/>
                </a:solidFill>
                <a:highlight>
                  <a:srgbClr val="C0C0C0"/>
                </a:highlight>
                <a:latin typeface="Cambria" pitchFamily="34" charset="0"/>
                <a:ea typeface="Cambria" pitchFamily="34" charset="-122"/>
                <a:cs typeface="Cambria" pitchFamily="34" charset="-120"/>
              </a:rPr>
              <a:t> </a:t>
            </a:r>
            <a:r>
              <a:rPr lang="en-US" sz="2200" b="1" dirty="0" err="1">
                <a:solidFill>
                  <a:srgbClr val="FFFFFF"/>
                </a:solidFill>
                <a:highlight>
                  <a:srgbClr val="C0C0C0"/>
                </a:highlight>
                <a:latin typeface="Cambria" pitchFamily="34" charset="0"/>
                <a:ea typeface="Cambria" pitchFamily="34" charset="-122"/>
                <a:cs typeface="Cambria" pitchFamily="34" charset="-120"/>
              </a:rPr>
              <a:t>beriw</a:t>
            </a:r>
            <a:endParaRPr lang="en-US" sz="2200" dirty="0">
              <a:highlight>
                <a:srgbClr val="C0C0C0"/>
              </a:highlight>
            </a:endParaRPr>
          </a:p>
        </p:txBody>
      </p:sp>
    </p:spTree>
    <p:extLst>
      <p:ext uri="{BB962C8B-B14F-4D97-AF65-F5344CB8AC3E}">
        <p14:creationId xmlns:p14="http://schemas.microsoft.com/office/powerpoint/2010/main" val="32699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EA162-37BD-D36F-2B0A-73E1FF48D009}"/>
              </a:ext>
            </a:extLst>
          </p:cNvPr>
          <p:cNvSpPr txBox="1"/>
          <p:nvPr/>
        </p:nvSpPr>
        <p:spPr>
          <a:xfrm>
            <a:off x="1420836" y="4462991"/>
            <a:ext cx="5359791" cy="646331"/>
          </a:xfrm>
          <a:prstGeom prst="rect">
            <a:avLst/>
          </a:prstGeom>
          <a:noFill/>
        </p:spPr>
        <p:txBody>
          <a:bodyPr wrap="square">
            <a:spAutoFit/>
          </a:bodyPr>
          <a:lstStyle/>
          <a:p>
            <a:pPr algn="ctr"/>
            <a:r>
              <a:rPr lang="ru-RU" sz="3600" b="1" kern="0" dirty="0">
                <a:solidFill>
                  <a:srgbClr val="000000"/>
                </a:solidFill>
                <a:effectLst/>
                <a:latin typeface="Times New Roman" panose="02020603050405020304" pitchFamily="18" charset="0"/>
                <a:ea typeface="Times New Roman" panose="02020603050405020304" pitchFamily="18" charset="0"/>
              </a:rPr>
              <a:t>S</a:t>
            </a:r>
            <a:r>
              <a:rPr lang="uz-Latn-UZ" sz="3600" b="1" kern="0" dirty="0">
                <a:solidFill>
                  <a:srgbClr val="000000"/>
                </a:solidFill>
                <a:effectLst/>
                <a:latin typeface="Times New Roman" panose="02020603050405020304" pitchFamily="18" charset="0"/>
                <a:ea typeface="Times New Roman" panose="02020603050405020304" pitchFamily="18" charset="0"/>
              </a:rPr>
              <a:t>u</a:t>
            </a:r>
            <a:r>
              <a:rPr lang="ru-RU" sz="3600" b="1" kern="0" dirty="0" err="1">
                <a:solidFill>
                  <a:srgbClr val="000000"/>
                </a:solidFill>
                <a:effectLst/>
                <a:latin typeface="Times New Roman" panose="02020603050405020304" pitchFamily="18" charset="0"/>
                <a:ea typeface="Times New Roman" panose="02020603050405020304" pitchFamily="18" charset="0"/>
              </a:rPr>
              <a:t>tBozor</a:t>
            </a:r>
            <a:r>
              <a:rPr lang="uz-Latn-UZ" sz="3600" b="1" kern="0" dirty="0">
                <a:solidFill>
                  <a:srgbClr val="000000"/>
                </a:solidFill>
                <a:latin typeface="Times New Roman" panose="02020603050405020304" pitchFamily="18" charset="0"/>
                <a:ea typeface="Times New Roman" panose="02020603050405020304" pitchFamily="18" charset="0"/>
              </a:rPr>
              <a:t> saytı</a:t>
            </a:r>
            <a:endParaRPr lang="ru-RU" sz="3600" b="1" dirty="0"/>
          </a:p>
        </p:txBody>
      </p:sp>
      <p:pic>
        <p:nvPicPr>
          <p:cNvPr id="5" name="Рисунок 4">
            <a:extLst>
              <a:ext uri="{FF2B5EF4-FFF2-40B4-BE49-F238E27FC236}">
                <a16:creationId xmlns:a16="http://schemas.microsoft.com/office/drawing/2014/main" id="{3FE62EC1-FEA5-749B-4CE7-C43C727675D9}"/>
              </a:ext>
            </a:extLst>
          </p:cNvPr>
          <p:cNvPicPr>
            <a:picLocks noChangeAspect="1"/>
          </p:cNvPicPr>
          <p:nvPr/>
        </p:nvPicPr>
        <p:blipFill>
          <a:blip r:embed="rId2"/>
          <a:stretch>
            <a:fillRect/>
          </a:stretch>
        </p:blipFill>
        <p:spPr>
          <a:xfrm>
            <a:off x="119575" y="84406"/>
            <a:ext cx="9144000" cy="4311748"/>
          </a:xfrm>
          <a:prstGeom prst="rect">
            <a:avLst/>
          </a:prstGeom>
        </p:spPr>
      </p:pic>
    </p:spTree>
    <p:extLst>
      <p:ext uri="{BB962C8B-B14F-4D97-AF65-F5344CB8AC3E}">
        <p14:creationId xmlns:p14="http://schemas.microsoft.com/office/powerpoint/2010/main" val="1883648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919B"/>
          </a:solidFill>
          <a:ln w="12700">
            <a:solidFill>
              <a:srgbClr val="14919B"/>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lgn="just">
              <a:buNone/>
            </a:pPr>
            <a:r>
              <a:rPr lang="en-US" sz="2600" dirty="0">
                <a:solidFill>
                  <a:srgbClr val="FFFFFF"/>
                </a:solidFill>
                <a:latin typeface="Times New Roman" panose="02020603050405020304" pitchFamily="18" charset="0"/>
                <a:ea typeface="Cambria" pitchFamily="34" charset="-122"/>
                <a:cs typeface="Times New Roman" panose="02020603050405020304" pitchFamily="18" charset="0"/>
              </a:rPr>
              <a:t>Joybardıń maqseti</a:t>
            </a:r>
            <a:endParaRPr lang="en-US" sz="26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1051560"/>
            <a:ext cx="8412480" cy="1371600"/>
          </a:xfrm>
          <a:prstGeom prst="roundRect">
            <a:avLst>
              <a:gd name="adj" fmla="val 8000"/>
            </a:avLst>
          </a:prstGeom>
          <a:solidFill>
            <a:srgbClr val="14919B">
              <a:alpha val="15000"/>
            </a:srgbClr>
          </a:solidFill>
          <a:ln w="12700">
            <a:solidFill>
              <a:srgbClr val="14919B"/>
            </a:solidFill>
            <a:prstDash val="solid"/>
          </a:ln>
        </p:spPr>
      </p:sp>
      <p:sp>
        <p:nvSpPr>
          <p:cNvPr id="5" name="Text 3"/>
          <p:cNvSpPr/>
          <p:nvPr/>
        </p:nvSpPr>
        <p:spPr>
          <a:xfrm>
            <a:off x="548640" y="1097280"/>
            <a:ext cx="8046720" cy="1280160"/>
          </a:xfrm>
          <a:prstGeom prst="rect">
            <a:avLst/>
          </a:prstGeom>
          <a:noFill/>
          <a:ln/>
        </p:spPr>
        <p:txBody>
          <a:bodyPr wrap="square" rtlCol="0" anchor="ctr"/>
          <a:lstStyle/>
          <a:p>
            <a:pPr marL="0" indent="0" algn="just">
              <a:buNone/>
            </a:pPr>
            <a:r>
              <a:rPr lang="en-US" sz="1400" dirty="0">
                <a:solidFill>
                  <a:srgbClr val="0D5C63"/>
                </a:solidFill>
                <a:latin typeface="Times New Roman" panose="02020603050405020304" pitchFamily="18" charset="0"/>
                <a:ea typeface="Calibri" pitchFamily="34" charset="-122"/>
                <a:cs typeface="Times New Roman" panose="02020603050405020304" pitchFamily="18" charset="0"/>
              </a:rPr>
              <a:t>Sút ónimlerin jazılıw tiykarında jetkerip beriw sistemasın islep shıǵıw arqalı qarıydarlarǵa hár kúni jańa sút ónimlerin óz waqtında jetkerip beriwdi támiyinleytuǵın xızmetti 6 ay ishinde jolǵa qoyıw.</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2651760"/>
            <a:ext cx="4114800" cy="914400"/>
          </a:xfrm>
          <a:prstGeom prst="roundRect">
            <a:avLst>
              <a:gd name="adj" fmla="val 10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7" name="Text 5"/>
          <p:cNvSpPr/>
          <p:nvPr/>
        </p:nvSpPr>
        <p:spPr>
          <a:xfrm>
            <a:off x="457200" y="2743200"/>
            <a:ext cx="548640" cy="731520"/>
          </a:xfrm>
          <a:prstGeom prst="rect">
            <a:avLst/>
          </a:prstGeom>
          <a:noFill/>
          <a:ln/>
        </p:spPr>
        <p:txBody>
          <a:bodyPr wrap="square" rtlCol="0" anchor="ctr"/>
          <a:lstStyle/>
          <a:p>
            <a:pPr marL="0" indent="0" algn="just">
              <a:buNone/>
            </a:pPr>
            <a:r>
              <a:rPr lang="en-US" sz="1800" dirty="0">
                <a:solidFill>
                  <a:srgbClr val="F4A261"/>
                </a:solidFill>
                <a:latin typeface="Times New Roman" panose="02020603050405020304" pitchFamily="18" charset="0"/>
                <a:ea typeface="Cambria" pitchFamily="34" charset="-122"/>
                <a:cs typeface="Times New Roman" panose="02020603050405020304" pitchFamily="18" charset="0"/>
              </a:rPr>
              <a:t>01</a:t>
            </a:r>
            <a:endParaRPr lang="en-US" sz="1800" dirty="0">
              <a:latin typeface="Times New Roman" panose="02020603050405020304" pitchFamily="18" charset="0"/>
              <a:cs typeface="Times New Roman" panose="02020603050405020304" pitchFamily="18" charset="0"/>
            </a:endParaRPr>
          </a:p>
        </p:txBody>
      </p:sp>
      <p:sp>
        <p:nvSpPr>
          <p:cNvPr id="8" name="Text 6"/>
          <p:cNvSpPr/>
          <p:nvPr/>
        </p:nvSpPr>
        <p:spPr>
          <a:xfrm>
            <a:off x="1051560" y="2743200"/>
            <a:ext cx="3291840" cy="731520"/>
          </a:xfrm>
          <a:prstGeom prst="rect">
            <a:avLst/>
          </a:prstGeom>
          <a:noFill/>
          <a:ln/>
        </p:spPr>
        <p:txBody>
          <a:bodyPr wrap="square" rtlCol="0" anchor="ctr"/>
          <a:lstStyle/>
          <a:p>
            <a:pPr marL="0" indent="0" algn="just">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Maǵlıwmatlar bazasın jaratıw (PostgreSQL)</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365760" y="3749040"/>
            <a:ext cx="4114800" cy="914400"/>
          </a:xfrm>
          <a:prstGeom prst="roundRect">
            <a:avLst>
              <a:gd name="adj" fmla="val 10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0" name="Text 8"/>
          <p:cNvSpPr/>
          <p:nvPr/>
        </p:nvSpPr>
        <p:spPr>
          <a:xfrm>
            <a:off x="457200" y="3840480"/>
            <a:ext cx="548640" cy="731520"/>
          </a:xfrm>
          <a:prstGeom prst="rect">
            <a:avLst/>
          </a:prstGeom>
          <a:noFill/>
          <a:ln/>
        </p:spPr>
        <p:txBody>
          <a:bodyPr wrap="square" rtlCol="0" anchor="ctr"/>
          <a:lstStyle/>
          <a:p>
            <a:pPr marL="0" indent="0" algn="just">
              <a:buNone/>
            </a:pPr>
            <a:r>
              <a:rPr lang="en-US" sz="1800" dirty="0">
                <a:solidFill>
                  <a:srgbClr val="F4A261"/>
                </a:solidFill>
                <a:latin typeface="Times New Roman" panose="02020603050405020304" pitchFamily="18" charset="0"/>
                <a:ea typeface="Cambria" pitchFamily="34" charset="-122"/>
                <a:cs typeface="Times New Roman" panose="02020603050405020304" pitchFamily="18" charset="0"/>
              </a:rPr>
              <a:t>02</a:t>
            </a:r>
            <a:endParaRPr lang="en-US" sz="1800" dirty="0">
              <a:latin typeface="Times New Roman" panose="02020603050405020304" pitchFamily="18" charset="0"/>
              <a:cs typeface="Times New Roman" panose="02020603050405020304" pitchFamily="18" charset="0"/>
            </a:endParaRPr>
          </a:p>
        </p:txBody>
      </p:sp>
      <p:sp>
        <p:nvSpPr>
          <p:cNvPr id="11" name="Text 9"/>
          <p:cNvSpPr/>
          <p:nvPr/>
        </p:nvSpPr>
        <p:spPr>
          <a:xfrm>
            <a:off x="1051560" y="3840480"/>
            <a:ext cx="3291840" cy="731520"/>
          </a:xfrm>
          <a:prstGeom prst="rect">
            <a:avLst/>
          </a:prstGeom>
          <a:noFill/>
          <a:ln/>
        </p:spPr>
        <p:txBody>
          <a:bodyPr wrap="square" rtlCol="0" anchor="ctr"/>
          <a:lstStyle/>
          <a:p>
            <a:pPr marL="0" indent="0" algn="just">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Sayt yamasa Telegram-bot islep shıǵıw</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4846320" y="2651760"/>
            <a:ext cx="4114800" cy="914400"/>
          </a:xfrm>
          <a:prstGeom prst="roundRect">
            <a:avLst>
              <a:gd name="adj" fmla="val 10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3" name="Text 11"/>
          <p:cNvSpPr/>
          <p:nvPr/>
        </p:nvSpPr>
        <p:spPr>
          <a:xfrm>
            <a:off x="4937760" y="2743200"/>
            <a:ext cx="548640" cy="731520"/>
          </a:xfrm>
          <a:prstGeom prst="rect">
            <a:avLst/>
          </a:prstGeom>
          <a:noFill/>
          <a:ln/>
        </p:spPr>
        <p:txBody>
          <a:bodyPr wrap="square" rtlCol="0" anchor="ctr"/>
          <a:lstStyle/>
          <a:p>
            <a:pPr marL="0" indent="0" algn="just">
              <a:buNone/>
            </a:pPr>
            <a:r>
              <a:rPr lang="en-US" sz="1800" dirty="0">
                <a:solidFill>
                  <a:srgbClr val="F4A261"/>
                </a:solidFill>
                <a:latin typeface="Times New Roman" panose="02020603050405020304" pitchFamily="18" charset="0"/>
                <a:ea typeface="Cambria" pitchFamily="34" charset="-122"/>
                <a:cs typeface="Times New Roman" panose="02020603050405020304" pitchFamily="18" charset="0"/>
              </a:rPr>
              <a:t>03</a:t>
            </a:r>
            <a:endParaRPr lang="en-US" sz="1800" dirty="0">
              <a:latin typeface="Times New Roman" panose="02020603050405020304" pitchFamily="18" charset="0"/>
              <a:cs typeface="Times New Roman" panose="02020603050405020304" pitchFamily="18" charset="0"/>
            </a:endParaRPr>
          </a:p>
        </p:txBody>
      </p:sp>
      <p:sp>
        <p:nvSpPr>
          <p:cNvPr id="14" name="Text 12"/>
          <p:cNvSpPr/>
          <p:nvPr/>
        </p:nvSpPr>
        <p:spPr>
          <a:xfrm>
            <a:off x="5532120" y="2743200"/>
            <a:ext cx="3291840" cy="731520"/>
          </a:xfrm>
          <a:prstGeom prst="rect">
            <a:avLst/>
          </a:prstGeom>
          <a:noFill/>
          <a:ln/>
        </p:spPr>
        <p:txBody>
          <a:bodyPr wrap="square" rtlCol="0" anchor="ctr"/>
          <a:lstStyle/>
          <a:p>
            <a:pPr marL="0" indent="0" algn="just">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Fermer xojalıqları menen kelisim dúziw</a:t>
            </a:r>
            <a:endParaRPr lang="en-US" sz="1200" dirty="0">
              <a:latin typeface="Times New Roman" panose="02020603050405020304" pitchFamily="18" charset="0"/>
              <a:cs typeface="Times New Roman" panose="02020603050405020304" pitchFamily="18" charset="0"/>
            </a:endParaRPr>
          </a:p>
        </p:txBody>
      </p:sp>
      <p:sp>
        <p:nvSpPr>
          <p:cNvPr id="15" name="Shape 13"/>
          <p:cNvSpPr/>
          <p:nvPr/>
        </p:nvSpPr>
        <p:spPr>
          <a:xfrm>
            <a:off x="4846320" y="3749040"/>
            <a:ext cx="4114800" cy="914400"/>
          </a:xfrm>
          <a:prstGeom prst="roundRect">
            <a:avLst>
              <a:gd name="adj" fmla="val 10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6" name="Text 14"/>
          <p:cNvSpPr/>
          <p:nvPr/>
        </p:nvSpPr>
        <p:spPr>
          <a:xfrm>
            <a:off x="4937760" y="3840480"/>
            <a:ext cx="548640" cy="731520"/>
          </a:xfrm>
          <a:prstGeom prst="rect">
            <a:avLst/>
          </a:prstGeom>
          <a:noFill/>
          <a:ln/>
        </p:spPr>
        <p:txBody>
          <a:bodyPr wrap="square" rtlCol="0" anchor="ctr"/>
          <a:lstStyle/>
          <a:p>
            <a:pPr marL="0" indent="0" algn="just">
              <a:buNone/>
            </a:pPr>
            <a:r>
              <a:rPr lang="en-US" sz="1800" dirty="0">
                <a:solidFill>
                  <a:srgbClr val="F4A261"/>
                </a:solidFill>
                <a:latin typeface="Times New Roman" panose="02020603050405020304" pitchFamily="18" charset="0"/>
                <a:ea typeface="Cambria" pitchFamily="34" charset="-122"/>
                <a:cs typeface="Times New Roman" panose="02020603050405020304" pitchFamily="18" charset="0"/>
              </a:rPr>
              <a:t>04</a:t>
            </a:r>
            <a:endParaRPr lang="en-US" sz="1800" dirty="0">
              <a:latin typeface="Times New Roman" panose="02020603050405020304" pitchFamily="18" charset="0"/>
              <a:cs typeface="Times New Roman" panose="02020603050405020304" pitchFamily="18" charset="0"/>
            </a:endParaRPr>
          </a:p>
        </p:txBody>
      </p:sp>
      <p:sp>
        <p:nvSpPr>
          <p:cNvPr id="17" name="Text 15"/>
          <p:cNvSpPr/>
          <p:nvPr/>
        </p:nvSpPr>
        <p:spPr>
          <a:xfrm>
            <a:off x="5532120" y="3840480"/>
            <a:ext cx="3291840" cy="731520"/>
          </a:xfrm>
          <a:prstGeom prst="rect">
            <a:avLst/>
          </a:prstGeom>
          <a:noFill/>
          <a:ln/>
        </p:spPr>
        <p:txBody>
          <a:bodyPr wrap="square" rtlCol="0" anchor="ctr"/>
          <a:lstStyle/>
          <a:p>
            <a:pPr marL="0" indent="0" algn="just">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Jazılıw paketlerin belgilew (Ekonom/Premium)</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5C63"/>
          </a:solidFill>
          <a:ln w="12700">
            <a:solidFill>
              <a:srgbClr val="0D5C63"/>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Áhmiyetliligi</a:t>
            </a:r>
            <a:endParaRPr lang="en-US" sz="26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1188720"/>
            <a:ext cx="4114800" cy="1371600"/>
          </a:xfrm>
          <a:prstGeom prst="roundRect">
            <a:avLst>
              <a:gd name="adj" fmla="val 8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5" name="Shape 3"/>
          <p:cNvSpPr/>
          <p:nvPr/>
        </p:nvSpPr>
        <p:spPr>
          <a:xfrm>
            <a:off x="502920" y="1645920"/>
            <a:ext cx="320040" cy="320040"/>
          </a:xfrm>
          <a:prstGeom prst="ellipse">
            <a:avLst/>
          </a:prstGeom>
          <a:solidFill>
            <a:srgbClr val="F4A261"/>
          </a:solidFill>
          <a:ln w="12700">
            <a:solidFill>
              <a:srgbClr val="F4A261"/>
            </a:solidFill>
            <a:prstDash val="solid"/>
          </a:ln>
        </p:spPr>
      </p:sp>
      <p:sp>
        <p:nvSpPr>
          <p:cNvPr id="6" name="Text 4"/>
          <p:cNvSpPr/>
          <p:nvPr/>
        </p:nvSpPr>
        <p:spPr>
          <a:xfrm>
            <a:off x="914400" y="1325880"/>
            <a:ext cx="3474720" cy="109728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Búgingi kúnde xalıq turmısı bánt bolıp, azıq-awqat satıp alıwǵa waqıt tapıw qıyınlaspaqta.</a:t>
            </a:r>
            <a:endParaRPr lang="en-US" sz="1200" dirty="0">
              <a:latin typeface="Times New Roman" panose="02020603050405020304" pitchFamily="18" charset="0"/>
              <a:cs typeface="Times New Roman" panose="02020603050405020304" pitchFamily="18" charset="0"/>
            </a:endParaRPr>
          </a:p>
        </p:txBody>
      </p:sp>
      <p:sp>
        <p:nvSpPr>
          <p:cNvPr id="7" name="Shape 5"/>
          <p:cNvSpPr/>
          <p:nvPr/>
        </p:nvSpPr>
        <p:spPr>
          <a:xfrm>
            <a:off x="4846320" y="1188720"/>
            <a:ext cx="4114800" cy="1371600"/>
          </a:xfrm>
          <a:prstGeom prst="roundRect">
            <a:avLst>
              <a:gd name="adj" fmla="val 8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8" name="Shape 6"/>
          <p:cNvSpPr/>
          <p:nvPr/>
        </p:nvSpPr>
        <p:spPr>
          <a:xfrm>
            <a:off x="4983480" y="1645920"/>
            <a:ext cx="320040" cy="320040"/>
          </a:xfrm>
          <a:prstGeom prst="ellipse">
            <a:avLst/>
          </a:prstGeom>
          <a:solidFill>
            <a:srgbClr val="F4A261"/>
          </a:solidFill>
          <a:ln w="12700">
            <a:solidFill>
              <a:srgbClr val="F4A261"/>
            </a:solidFill>
            <a:prstDash val="solid"/>
          </a:ln>
        </p:spPr>
      </p:sp>
      <p:sp>
        <p:nvSpPr>
          <p:cNvPr id="9" name="Text 7"/>
          <p:cNvSpPr/>
          <p:nvPr/>
        </p:nvSpPr>
        <p:spPr>
          <a:xfrm>
            <a:off x="5394960" y="1325880"/>
            <a:ext cx="3474720" cy="109728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Sút ónimleri hár kúni paydalanılatuǵın tiykarǵı azıq-awqat ónimleri esaplanadı.</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365760" y="2743200"/>
            <a:ext cx="4114800" cy="1371600"/>
          </a:xfrm>
          <a:prstGeom prst="roundRect">
            <a:avLst>
              <a:gd name="adj" fmla="val 8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1" name="Shape 9"/>
          <p:cNvSpPr/>
          <p:nvPr/>
        </p:nvSpPr>
        <p:spPr>
          <a:xfrm>
            <a:off x="502920" y="3200400"/>
            <a:ext cx="320040" cy="320040"/>
          </a:xfrm>
          <a:prstGeom prst="ellipse">
            <a:avLst/>
          </a:prstGeom>
          <a:solidFill>
            <a:srgbClr val="F4A261"/>
          </a:solidFill>
          <a:ln w="12700">
            <a:solidFill>
              <a:srgbClr val="F4A261"/>
            </a:solidFill>
            <a:prstDash val="solid"/>
          </a:ln>
        </p:spPr>
      </p:sp>
      <p:sp>
        <p:nvSpPr>
          <p:cNvPr id="12" name="Text 10"/>
          <p:cNvSpPr/>
          <p:nvPr/>
        </p:nvSpPr>
        <p:spPr>
          <a:xfrm>
            <a:off x="914400" y="2880360"/>
            <a:ext cx="3474720" cy="109728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Turaqlı jańa ónimlerdi jetkerip beriw xızmetine talap artsın barmaqta.</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4846320" y="2743200"/>
            <a:ext cx="4114800" cy="1371600"/>
          </a:xfrm>
          <a:prstGeom prst="roundRect">
            <a:avLst>
              <a:gd name="adj" fmla="val 8000"/>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4" name="Shape 12"/>
          <p:cNvSpPr/>
          <p:nvPr/>
        </p:nvSpPr>
        <p:spPr>
          <a:xfrm>
            <a:off x="4983480" y="3200400"/>
            <a:ext cx="320040" cy="320040"/>
          </a:xfrm>
          <a:prstGeom prst="ellipse">
            <a:avLst/>
          </a:prstGeom>
          <a:solidFill>
            <a:srgbClr val="F4A261"/>
          </a:solidFill>
          <a:ln w="12700">
            <a:solidFill>
              <a:srgbClr val="F4A261"/>
            </a:solidFill>
            <a:prstDash val="solid"/>
          </a:ln>
        </p:spPr>
      </p:sp>
      <p:sp>
        <p:nvSpPr>
          <p:cNvPr id="15" name="Text 13"/>
          <p:cNvSpPr/>
          <p:nvPr/>
        </p:nvSpPr>
        <p:spPr>
          <a:xfrm>
            <a:off x="5394960" y="2880360"/>
            <a:ext cx="3474720" cy="109728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Onlayn xızmetler hám jetkerip beriw sistemaları qalalarda jedel rawajlanbaqta.</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21102"/>
            <a:ext cx="9144000" cy="914400"/>
          </a:xfrm>
          <a:prstGeom prst="rect">
            <a:avLst/>
          </a:prstGeom>
          <a:solidFill>
            <a:srgbClr val="0D5C63"/>
          </a:solidFill>
          <a:ln w="12700">
            <a:solidFill>
              <a:srgbClr val="0D5C63"/>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lgn="just">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Bar bolǵan jaǵday</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365760" y="1005840"/>
            <a:ext cx="8412480" cy="1188720"/>
          </a:xfrm>
          <a:prstGeom prst="rect">
            <a:avLst/>
          </a:prstGeom>
          <a:noFill/>
          <a:ln/>
        </p:spPr>
        <p:txBody>
          <a:bodyPr wrap="square" rtlCol="0" anchor="ctr"/>
          <a:lstStyle/>
          <a:p>
            <a:pPr marL="0" indent="0" algn="just">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Sút tez buzılatuǵın ónimlerinen biri esaplanadı. Onıń sapasın saqlaw ushın belgili temperatura rejimine ámel etiw júdá áhmiyetli. Eger sút tómengi temperaturada saqlanbasa, mikroorganizmler tez kóbeyip, súttiń dámi ózgeredi hám ol ishiwge jaramsız halǵa keledi.</a:t>
            </a:r>
            <a:endParaRPr lang="en-US" sz="1300" dirty="0">
              <a:latin typeface="Times New Roman" panose="02020603050405020304" pitchFamily="18" charset="0"/>
              <a:cs typeface="Times New Roman" panose="02020603050405020304" pitchFamily="18" charset="0"/>
            </a:endParaRPr>
          </a:p>
        </p:txBody>
      </p:sp>
      <p:sp>
        <p:nvSpPr>
          <p:cNvPr id="5" name="Shape 3"/>
          <p:cNvSpPr/>
          <p:nvPr/>
        </p:nvSpPr>
        <p:spPr>
          <a:xfrm>
            <a:off x="365760" y="2377440"/>
            <a:ext cx="2651760" cy="2377440"/>
          </a:xfrm>
          <a:prstGeom prst="roundRect">
            <a:avLst>
              <a:gd name="adj" fmla="val 4615"/>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6" name="Text 4"/>
          <p:cNvSpPr/>
          <p:nvPr/>
        </p:nvSpPr>
        <p:spPr>
          <a:xfrm>
            <a:off x="365760" y="2468880"/>
            <a:ext cx="2651760" cy="731520"/>
          </a:xfrm>
          <a:prstGeom prst="rect">
            <a:avLst/>
          </a:prstGeom>
          <a:noFill/>
          <a:ln/>
        </p:spPr>
        <p:txBody>
          <a:bodyPr wrap="square" rtlCol="0" anchor="ctr"/>
          <a:lstStyle/>
          <a:p>
            <a:pPr marL="0" indent="0" algn="just">
              <a:buNone/>
            </a:pPr>
            <a:r>
              <a:rPr lang="en-US" sz="2800" dirty="0">
                <a:solidFill>
                  <a:srgbClr val="00000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365760" y="3154680"/>
            <a:ext cx="2651760" cy="411480"/>
          </a:xfrm>
          <a:prstGeom prst="rect">
            <a:avLst/>
          </a:prstGeom>
          <a:noFill/>
          <a:ln/>
        </p:spPr>
        <p:txBody>
          <a:bodyPr wrap="square" rtlCol="0" anchor="ctr"/>
          <a:lstStyle/>
          <a:p>
            <a:pPr marL="0" indent="0" algn="just">
              <a:buNone/>
            </a:pPr>
            <a:r>
              <a:rPr lang="en-US" sz="1400" b="1" dirty="0">
                <a:solidFill>
                  <a:srgbClr val="0D5C63"/>
                </a:solidFill>
                <a:latin typeface="Times New Roman" panose="02020603050405020304" pitchFamily="18" charset="0"/>
                <a:ea typeface="Cambria" pitchFamily="34" charset="-122"/>
                <a:cs typeface="Times New Roman" panose="02020603050405020304" pitchFamily="18" charset="0"/>
              </a:rPr>
              <a:t>Waqıt</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57200" y="3566160"/>
            <a:ext cx="2468880" cy="1005840"/>
          </a:xfrm>
          <a:prstGeom prst="rect">
            <a:avLst/>
          </a:prstGeom>
          <a:noFill/>
          <a:ln/>
        </p:spPr>
        <p:txBody>
          <a:bodyPr wrap="square" rtlCol="0" anchor="ctr"/>
          <a:lstStyle/>
          <a:p>
            <a:pPr marL="0" indent="0" algn="just">
              <a:buNone/>
            </a:pPr>
            <a:r>
              <a:rPr lang="en-US" sz="1100" dirty="0">
                <a:solidFill>
                  <a:srgbClr val="64748B"/>
                </a:solidFill>
                <a:latin typeface="Times New Roman" panose="02020603050405020304" pitchFamily="18" charset="0"/>
                <a:ea typeface="Calibri" pitchFamily="34" charset="-122"/>
                <a:cs typeface="Times New Roman" panose="02020603050405020304" pitchFamily="18" charset="0"/>
              </a:rPr>
              <a:t>Klientler dúkanǵa barıwǵa waqıt taba almaydı</a:t>
            </a:r>
            <a:endParaRPr lang="en-US" sz="1100" dirty="0">
              <a:latin typeface="Times New Roman" panose="02020603050405020304" pitchFamily="18" charset="0"/>
              <a:cs typeface="Times New Roman" panose="02020603050405020304" pitchFamily="18" charset="0"/>
            </a:endParaRPr>
          </a:p>
        </p:txBody>
      </p:sp>
      <p:sp>
        <p:nvSpPr>
          <p:cNvPr id="9" name="Shape 7"/>
          <p:cNvSpPr/>
          <p:nvPr/>
        </p:nvSpPr>
        <p:spPr>
          <a:xfrm>
            <a:off x="3200400" y="2377440"/>
            <a:ext cx="2651760" cy="2377440"/>
          </a:xfrm>
          <a:prstGeom prst="roundRect">
            <a:avLst>
              <a:gd name="adj" fmla="val 4615"/>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0" name="Text 8"/>
          <p:cNvSpPr/>
          <p:nvPr/>
        </p:nvSpPr>
        <p:spPr>
          <a:xfrm>
            <a:off x="3200400" y="2468880"/>
            <a:ext cx="2651760" cy="731520"/>
          </a:xfrm>
          <a:prstGeom prst="rect">
            <a:avLst/>
          </a:prstGeom>
          <a:noFill/>
          <a:ln/>
        </p:spPr>
        <p:txBody>
          <a:bodyPr wrap="square" rtlCol="0" anchor="ctr"/>
          <a:lstStyle/>
          <a:p>
            <a:pPr marL="0" indent="0" algn="just">
              <a:buNone/>
            </a:pPr>
            <a:r>
              <a:rPr lang="en-US" sz="2800" dirty="0">
                <a:solidFill>
                  <a:srgbClr val="00000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11" name="Text 9"/>
          <p:cNvSpPr/>
          <p:nvPr/>
        </p:nvSpPr>
        <p:spPr>
          <a:xfrm>
            <a:off x="3200400" y="3154680"/>
            <a:ext cx="2651760" cy="411480"/>
          </a:xfrm>
          <a:prstGeom prst="rect">
            <a:avLst/>
          </a:prstGeom>
          <a:noFill/>
          <a:ln/>
        </p:spPr>
        <p:txBody>
          <a:bodyPr wrap="square" rtlCol="0" anchor="ctr"/>
          <a:lstStyle/>
          <a:p>
            <a:pPr marL="0" indent="0" algn="just">
              <a:buNone/>
            </a:pPr>
            <a:r>
              <a:rPr lang="en-US" sz="1400" b="1" dirty="0">
                <a:solidFill>
                  <a:srgbClr val="0D5C63"/>
                </a:solidFill>
                <a:latin typeface="Times New Roman" panose="02020603050405020304" pitchFamily="18" charset="0"/>
                <a:ea typeface="Cambria" pitchFamily="34" charset="-122"/>
                <a:cs typeface="Times New Roman" panose="02020603050405020304" pitchFamily="18" charset="0"/>
              </a:rPr>
              <a:t>Temperatura</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3291840" y="3566160"/>
            <a:ext cx="2468880" cy="1005840"/>
          </a:xfrm>
          <a:prstGeom prst="rect">
            <a:avLst/>
          </a:prstGeom>
          <a:noFill/>
          <a:ln/>
        </p:spPr>
        <p:txBody>
          <a:bodyPr wrap="square" rtlCol="0" anchor="ctr"/>
          <a:lstStyle/>
          <a:p>
            <a:pPr marL="0" indent="0" algn="just">
              <a:buNone/>
            </a:pPr>
            <a:r>
              <a:rPr lang="en-US" sz="1100" dirty="0">
                <a:solidFill>
                  <a:srgbClr val="64748B"/>
                </a:solidFill>
                <a:latin typeface="Times New Roman" panose="02020603050405020304" pitchFamily="18" charset="0"/>
                <a:ea typeface="Calibri" pitchFamily="34" charset="-122"/>
                <a:cs typeface="Times New Roman" panose="02020603050405020304" pitchFamily="18" charset="0"/>
              </a:rPr>
              <a:t>Sút sapasın saqlaw ushın 4–6°C kerek</a:t>
            </a:r>
            <a:endParaRPr lang="en-US" sz="1100" dirty="0">
              <a:latin typeface="Times New Roman" panose="02020603050405020304" pitchFamily="18" charset="0"/>
              <a:cs typeface="Times New Roman" panose="02020603050405020304" pitchFamily="18" charset="0"/>
            </a:endParaRPr>
          </a:p>
        </p:txBody>
      </p:sp>
      <p:sp>
        <p:nvSpPr>
          <p:cNvPr id="13" name="Shape 11"/>
          <p:cNvSpPr/>
          <p:nvPr/>
        </p:nvSpPr>
        <p:spPr>
          <a:xfrm>
            <a:off x="6035040" y="2377440"/>
            <a:ext cx="2651760" cy="2377440"/>
          </a:xfrm>
          <a:prstGeom prst="roundRect">
            <a:avLst>
              <a:gd name="adj" fmla="val 4615"/>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4" name="Text 12"/>
          <p:cNvSpPr/>
          <p:nvPr/>
        </p:nvSpPr>
        <p:spPr>
          <a:xfrm>
            <a:off x="6035040" y="2468880"/>
            <a:ext cx="2651760" cy="731520"/>
          </a:xfrm>
          <a:prstGeom prst="rect">
            <a:avLst/>
          </a:prstGeom>
          <a:noFill/>
          <a:ln/>
        </p:spPr>
        <p:txBody>
          <a:bodyPr wrap="square" rtlCol="0" anchor="ctr"/>
          <a:lstStyle/>
          <a:p>
            <a:pPr marL="0" indent="0" algn="just">
              <a:buNone/>
            </a:pPr>
            <a:r>
              <a:rPr lang="en-US" sz="2800" dirty="0">
                <a:solidFill>
                  <a:srgbClr val="00000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15" name="Text 13"/>
          <p:cNvSpPr/>
          <p:nvPr/>
        </p:nvSpPr>
        <p:spPr>
          <a:xfrm>
            <a:off x="6035040" y="3154680"/>
            <a:ext cx="2651760" cy="411480"/>
          </a:xfrm>
          <a:prstGeom prst="rect">
            <a:avLst/>
          </a:prstGeom>
          <a:noFill/>
          <a:ln/>
        </p:spPr>
        <p:txBody>
          <a:bodyPr wrap="square" rtlCol="0" anchor="ctr"/>
          <a:lstStyle/>
          <a:p>
            <a:pPr marL="0" indent="0" algn="just">
              <a:buNone/>
            </a:pPr>
            <a:r>
              <a:rPr lang="en-US" sz="1400" b="1" dirty="0">
                <a:solidFill>
                  <a:srgbClr val="0D5C63"/>
                </a:solidFill>
                <a:latin typeface="Times New Roman" panose="02020603050405020304" pitchFamily="18" charset="0"/>
                <a:ea typeface="Cambria" pitchFamily="34" charset="-122"/>
                <a:cs typeface="Times New Roman" panose="02020603050405020304" pitchFamily="18" charset="0"/>
              </a:rPr>
              <a:t>Logistika</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6126480" y="3566160"/>
            <a:ext cx="2468880" cy="1005840"/>
          </a:xfrm>
          <a:prstGeom prst="rect">
            <a:avLst/>
          </a:prstGeom>
          <a:noFill/>
          <a:ln/>
        </p:spPr>
        <p:txBody>
          <a:bodyPr wrap="square" rtlCol="0" anchor="ctr"/>
          <a:lstStyle/>
          <a:p>
            <a:pPr marL="0" indent="0" algn="just">
              <a:buNone/>
            </a:pPr>
            <a:r>
              <a:rPr lang="en-US" sz="1100" dirty="0">
                <a:solidFill>
                  <a:srgbClr val="64748B"/>
                </a:solidFill>
                <a:latin typeface="Times New Roman" panose="02020603050405020304" pitchFamily="18" charset="0"/>
                <a:ea typeface="Calibri" pitchFamily="34" charset="-122"/>
                <a:cs typeface="Times New Roman" panose="02020603050405020304" pitchFamily="18" charset="0"/>
              </a:rPr>
              <a:t>Jergilikli jetkerip beriw sisteması joq</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919B"/>
          </a:solidFill>
          <a:ln w="12700">
            <a:solidFill>
              <a:srgbClr val="14919B"/>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Sheshimi</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365760" y="1005840"/>
            <a:ext cx="8412480" cy="1097280"/>
          </a:xfrm>
          <a:prstGeom prst="rect">
            <a:avLst/>
          </a:prstGeom>
          <a:noFill/>
          <a:ln/>
        </p:spPr>
        <p:txBody>
          <a:bodyPr wrap="square" rtlCol="0" anchor="ctr"/>
          <a:lstStyle/>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Arnawlı termobokslar hám suwıtqısh elementler járdeminde súttiń suwıq jaǵdayda klientlerge jetip barıwı támiyinlenedi. Kurierlerdiń marshrutı optimallastırılıp, bir kóshedegi 10 úyge bir waqıtta jetkerip beriledi.</a:t>
            </a:r>
            <a:endParaRPr lang="en-US" sz="13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2286000"/>
            <a:ext cx="1645920" cy="1645920"/>
          </a:xfrm>
          <a:prstGeom prst="ellipse">
            <a:avLst/>
          </a:prstGeom>
          <a:solidFill>
            <a:srgbClr val="0D5C63"/>
          </a:solidFill>
          <a:ln w="12700">
            <a:solidFill>
              <a:srgbClr val="0D5C63"/>
            </a:solidFill>
            <a:prstDash val="solid"/>
          </a:ln>
        </p:spPr>
      </p:sp>
      <p:sp>
        <p:nvSpPr>
          <p:cNvPr id="6" name="Text 4"/>
          <p:cNvSpPr/>
          <p:nvPr/>
        </p:nvSpPr>
        <p:spPr>
          <a:xfrm>
            <a:off x="457200" y="2286000"/>
            <a:ext cx="1645920" cy="164592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mbria" pitchFamily="34" charset="-122"/>
                <a:cs typeface="Times New Roman" panose="02020603050405020304" pitchFamily="18" charset="0"/>
              </a:rPr>
              <a:t>Fermer</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2103120" y="3108960"/>
            <a:ext cx="457200" cy="0"/>
          </a:xfrm>
          <a:prstGeom prst="line">
            <a:avLst/>
          </a:prstGeom>
          <a:noFill/>
          <a:ln w="31750">
            <a:solidFill>
              <a:srgbClr val="F4A261"/>
            </a:solidFill>
            <a:prstDash val="solid"/>
          </a:ln>
        </p:spPr>
      </p:sp>
      <p:sp>
        <p:nvSpPr>
          <p:cNvPr id="8" name="Shape 6"/>
          <p:cNvSpPr/>
          <p:nvPr/>
        </p:nvSpPr>
        <p:spPr>
          <a:xfrm>
            <a:off x="2560320" y="2286000"/>
            <a:ext cx="1645920" cy="1645920"/>
          </a:xfrm>
          <a:prstGeom prst="ellipse">
            <a:avLst/>
          </a:prstGeom>
          <a:solidFill>
            <a:srgbClr val="14919B"/>
          </a:solidFill>
          <a:ln w="12700">
            <a:solidFill>
              <a:srgbClr val="0D5C63"/>
            </a:solidFill>
            <a:prstDash val="solid"/>
          </a:ln>
        </p:spPr>
      </p:sp>
      <p:sp>
        <p:nvSpPr>
          <p:cNvPr id="9" name="Text 7"/>
          <p:cNvSpPr/>
          <p:nvPr/>
        </p:nvSpPr>
        <p:spPr>
          <a:xfrm>
            <a:off x="2560320" y="2286000"/>
            <a:ext cx="1645920" cy="164592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mbria" pitchFamily="34" charset="-122"/>
                <a:cs typeface="Times New Roman" panose="02020603050405020304" pitchFamily="18" charset="0"/>
              </a:rPr>
              <a:t>Termoboks</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4206240" y="3108960"/>
            <a:ext cx="457200" cy="0"/>
          </a:xfrm>
          <a:prstGeom prst="line">
            <a:avLst/>
          </a:prstGeom>
          <a:noFill/>
          <a:ln w="31750">
            <a:solidFill>
              <a:srgbClr val="F4A261"/>
            </a:solidFill>
            <a:prstDash val="solid"/>
          </a:ln>
        </p:spPr>
      </p:sp>
      <p:sp>
        <p:nvSpPr>
          <p:cNvPr id="11" name="Shape 9"/>
          <p:cNvSpPr/>
          <p:nvPr/>
        </p:nvSpPr>
        <p:spPr>
          <a:xfrm>
            <a:off x="4663440" y="2286000"/>
            <a:ext cx="1645920" cy="1645920"/>
          </a:xfrm>
          <a:prstGeom prst="ellipse">
            <a:avLst/>
          </a:prstGeom>
          <a:solidFill>
            <a:srgbClr val="0D5C63"/>
          </a:solidFill>
          <a:ln w="12700">
            <a:solidFill>
              <a:srgbClr val="0D5C63"/>
            </a:solidFill>
            <a:prstDash val="solid"/>
          </a:ln>
        </p:spPr>
      </p:sp>
      <p:sp>
        <p:nvSpPr>
          <p:cNvPr id="12" name="Text 10"/>
          <p:cNvSpPr/>
          <p:nvPr/>
        </p:nvSpPr>
        <p:spPr>
          <a:xfrm>
            <a:off x="4663440" y="2286000"/>
            <a:ext cx="1645920" cy="164592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mbria" pitchFamily="34" charset="-122"/>
                <a:cs typeface="Times New Roman" panose="02020603050405020304" pitchFamily="18" charset="0"/>
              </a:rPr>
              <a:t>Kurer</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6309360" y="3108960"/>
            <a:ext cx="457200" cy="0"/>
          </a:xfrm>
          <a:prstGeom prst="line">
            <a:avLst/>
          </a:prstGeom>
          <a:noFill/>
          <a:ln w="31750">
            <a:solidFill>
              <a:srgbClr val="F4A261"/>
            </a:solidFill>
            <a:prstDash val="solid"/>
          </a:ln>
        </p:spPr>
      </p:sp>
      <p:sp>
        <p:nvSpPr>
          <p:cNvPr id="14" name="Shape 12"/>
          <p:cNvSpPr/>
          <p:nvPr/>
        </p:nvSpPr>
        <p:spPr>
          <a:xfrm>
            <a:off x="6766560" y="2286000"/>
            <a:ext cx="1645920" cy="1645920"/>
          </a:xfrm>
          <a:prstGeom prst="ellipse">
            <a:avLst/>
          </a:prstGeom>
          <a:solidFill>
            <a:srgbClr val="14919B"/>
          </a:solidFill>
          <a:ln w="12700">
            <a:solidFill>
              <a:srgbClr val="0D5C63"/>
            </a:solidFill>
            <a:prstDash val="solid"/>
          </a:ln>
        </p:spPr>
      </p:sp>
      <p:sp>
        <p:nvSpPr>
          <p:cNvPr id="15" name="Text 13"/>
          <p:cNvSpPr/>
          <p:nvPr/>
        </p:nvSpPr>
        <p:spPr>
          <a:xfrm>
            <a:off x="6766560" y="2286000"/>
            <a:ext cx="1645920" cy="164592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mbria" pitchFamily="34" charset="-122"/>
                <a:cs typeface="Times New Roman" panose="02020603050405020304" pitchFamily="18" charset="0"/>
              </a:rPr>
              <a:t>Klient</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365760" y="4206240"/>
            <a:ext cx="2697480" cy="685800"/>
          </a:xfrm>
          <a:prstGeom prst="roundRect">
            <a:avLst>
              <a:gd name="adj" fmla="val 13333"/>
            </a:avLst>
          </a:prstGeom>
          <a:solidFill>
            <a:srgbClr val="CCF3F5"/>
          </a:solidFill>
          <a:ln w="12700">
            <a:solidFill>
              <a:srgbClr val="14919B"/>
            </a:solidFill>
            <a:prstDash val="solid"/>
          </a:ln>
        </p:spPr>
      </p:sp>
      <p:sp>
        <p:nvSpPr>
          <p:cNvPr id="17" name="Text 15"/>
          <p:cNvSpPr/>
          <p:nvPr/>
        </p:nvSpPr>
        <p:spPr>
          <a:xfrm>
            <a:off x="457200" y="4206240"/>
            <a:ext cx="2514600" cy="685800"/>
          </a:xfrm>
          <a:prstGeom prst="rect">
            <a:avLst/>
          </a:prstGeom>
          <a:noFill/>
          <a:ln/>
        </p:spPr>
        <p:txBody>
          <a:bodyPr wrap="square" rtlCol="0" anchor="ctr"/>
          <a:lstStyle/>
          <a:p>
            <a:pPr marL="0" indent="0" algn="ctr">
              <a:buNone/>
            </a:pPr>
            <a:r>
              <a:rPr lang="en-US" sz="1100" dirty="0">
                <a:solidFill>
                  <a:srgbClr val="0D5C63"/>
                </a:solidFill>
                <a:latin typeface="Times New Roman" panose="02020603050405020304" pitchFamily="18" charset="0"/>
                <a:ea typeface="Calibri" pitchFamily="34" charset="-122"/>
                <a:cs typeface="Times New Roman" panose="02020603050405020304" pitchFamily="18" charset="0"/>
              </a:rPr>
              <a:t>Sút 4–6°C da jetkeriledi</a:t>
            </a:r>
            <a:endParaRPr lang="en-US" sz="1100" dirty="0">
              <a:latin typeface="Times New Roman" panose="02020603050405020304" pitchFamily="18" charset="0"/>
              <a:cs typeface="Times New Roman" panose="02020603050405020304" pitchFamily="18" charset="0"/>
            </a:endParaRPr>
          </a:p>
        </p:txBody>
      </p:sp>
      <p:sp>
        <p:nvSpPr>
          <p:cNvPr id="18" name="Shape 16"/>
          <p:cNvSpPr/>
          <p:nvPr/>
        </p:nvSpPr>
        <p:spPr>
          <a:xfrm>
            <a:off x="3246120" y="4206240"/>
            <a:ext cx="2697480" cy="685800"/>
          </a:xfrm>
          <a:prstGeom prst="roundRect">
            <a:avLst>
              <a:gd name="adj" fmla="val 13333"/>
            </a:avLst>
          </a:prstGeom>
          <a:solidFill>
            <a:srgbClr val="CCF3F5"/>
          </a:solidFill>
          <a:ln w="12700">
            <a:solidFill>
              <a:srgbClr val="14919B"/>
            </a:solidFill>
            <a:prstDash val="solid"/>
          </a:ln>
        </p:spPr>
      </p:sp>
      <p:sp>
        <p:nvSpPr>
          <p:cNvPr id="19" name="Text 17"/>
          <p:cNvSpPr/>
          <p:nvPr/>
        </p:nvSpPr>
        <p:spPr>
          <a:xfrm>
            <a:off x="3337560" y="4206240"/>
            <a:ext cx="2514600" cy="685800"/>
          </a:xfrm>
          <a:prstGeom prst="rect">
            <a:avLst/>
          </a:prstGeom>
          <a:noFill/>
          <a:ln/>
        </p:spPr>
        <p:txBody>
          <a:bodyPr wrap="square" rtlCol="0" anchor="ctr"/>
          <a:lstStyle/>
          <a:p>
            <a:pPr marL="0" indent="0" algn="ctr">
              <a:buNone/>
            </a:pPr>
            <a:r>
              <a:rPr lang="en-US" sz="1100" dirty="0">
                <a:solidFill>
                  <a:srgbClr val="0D5C63"/>
                </a:solidFill>
                <a:latin typeface="Times New Roman" panose="02020603050405020304" pitchFamily="18" charset="0"/>
                <a:ea typeface="Calibri" pitchFamily="34" charset="-122"/>
                <a:cs typeface="Times New Roman" panose="02020603050405020304" pitchFamily="18" charset="0"/>
              </a:rPr>
              <a:t>Kúnine 06:00–08:00 aralaǵında jetkiziledi</a:t>
            </a:r>
            <a:endParaRPr lang="en-US" sz="1100" dirty="0">
              <a:latin typeface="Times New Roman" panose="02020603050405020304" pitchFamily="18" charset="0"/>
              <a:cs typeface="Times New Roman" panose="02020603050405020304" pitchFamily="18" charset="0"/>
            </a:endParaRPr>
          </a:p>
        </p:txBody>
      </p:sp>
      <p:sp>
        <p:nvSpPr>
          <p:cNvPr id="20" name="Shape 18"/>
          <p:cNvSpPr/>
          <p:nvPr/>
        </p:nvSpPr>
        <p:spPr>
          <a:xfrm>
            <a:off x="6126480" y="4206240"/>
            <a:ext cx="2697480" cy="685800"/>
          </a:xfrm>
          <a:prstGeom prst="roundRect">
            <a:avLst>
              <a:gd name="adj" fmla="val 13333"/>
            </a:avLst>
          </a:prstGeom>
          <a:solidFill>
            <a:srgbClr val="CCF3F5"/>
          </a:solidFill>
          <a:ln w="12700">
            <a:solidFill>
              <a:srgbClr val="14919B"/>
            </a:solidFill>
            <a:prstDash val="solid"/>
          </a:ln>
        </p:spPr>
      </p:sp>
      <p:sp>
        <p:nvSpPr>
          <p:cNvPr id="21" name="Text 19"/>
          <p:cNvSpPr/>
          <p:nvPr/>
        </p:nvSpPr>
        <p:spPr>
          <a:xfrm>
            <a:off x="6217920" y="4206240"/>
            <a:ext cx="2514600" cy="685800"/>
          </a:xfrm>
          <a:prstGeom prst="rect">
            <a:avLst/>
          </a:prstGeom>
          <a:noFill/>
          <a:ln/>
        </p:spPr>
        <p:txBody>
          <a:bodyPr wrap="square" rtlCol="0" anchor="ctr"/>
          <a:lstStyle/>
          <a:p>
            <a:pPr marL="0" indent="0" algn="ctr">
              <a:buNone/>
            </a:pPr>
            <a:r>
              <a:rPr lang="uz-Latn-UZ" sz="1100" dirty="0">
                <a:solidFill>
                  <a:srgbClr val="0D5C63"/>
                </a:solidFill>
                <a:latin typeface="Times New Roman" panose="02020603050405020304" pitchFamily="18" charset="0"/>
                <a:ea typeface="Calibri" pitchFamily="34" charset="-122"/>
                <a:cs typeface="Times New Roman" panose="02020603050405020304" pitchFamily="18" charset="0"/>
              </a:rPr>
              <a:t>Sayt</a:t>
            </a:r>
            <a:r>
              <a:rPr lang="en-US" sz="1100" dirty="0">
                <a:solidFill>
                  <a:srgbClr val="0D5C63"/>
                </a:solidFill>
                <a:latin typeface="Times New Roman" panose="02020603050405020304" pitchFamily="18" charset="0"/>
                <a:ea typeface="Calibri" pitchFamily="34" charset="-122"/>
                <a:cs typeface="Times New Roman" panose="02020603050405020304" pitchFamily="18" charset="0"/>
              </a:rPr>
              <a:t> arqalı buyırtma beriwge boladı</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p:spPr>
      </p:sp>
      <p:sp>
        <p:nvSpPr>
          <p:cNvPr id="3" name="Text 1"/>
          <p:cNvSpPr/>
          <p:nvPr/>
        </p:nvSpPr>
        <p:spPr>
          <a:xfrm>
            <a:off x="365760" y="91440"/>
            <a:ext cx="841248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Ózbekstandaǵı Uqsas Platformalar </a:t>
            </a:r>
            <a:r>
              <a:rPr lang="en-US" sz="2000" b="1" dirty="0" err="1">
                <a:solidFill>
                  <a:srgbClr val="FFFFFF"/>
                </a:solidFill>
                <a:latin typeface="Times New Roman" panose="02020603050405020304" pitchFamily="18" charset="0"/>
                <a:ea typeface="Calibri" pitchFamily="34" charset="-122"/>
                <a:cs typeface="Times New Roman" panose="02020603050405020304" pitchFamily="18" charset="0"/>
              </a:rPr>
              <a:t>hám</a:t>
            </a: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uz-Latn-UZ" sz="2000" b="1" dirty="0">
                <a:solidFill>
                  <a:srgbClr val="FFFFFF"/>
                </a:solidFill>
                <a:latin typeface="Times New Roman" panose="02020603050405020304" pitchFamily="18" charset="0"/>
                <a:ea typeface="Calibri" pitchFamily="34" charset="-122"/>
                <a:cs typeface="Times New Roman" panose="02020603050405020304" pitchFamily="18" charset="0"/>
              </a:rPr>
              <a:t>o</a:t>
            </a:r>
            <a:r>
              <a:rPr lang="en-US" sz="2000" b="1" dirty="0" err="1">
                <a:solidFill>
                  <a:srgbClr val="FFFFFF"/>
                </a:solidFill>
                <a:latin typeface="Times New Roman" panose="02020603050405020304" pitchFamily="18" charset="0"/>
                <a:ea typeface="Calibri" pitchFamily="34" charset="-122"/>
                <a:cs typeface="Times New Roman" panose="02020603050405020304" pitchFamily="18" charset="0"/>
              </a:rPr>
              <a:t>lardıń</a:t>
            </a: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uz-Latn-UZ" sz="2000" b="1" dirty="0">
                <a:solidFill>
                  <a:srgbClr val="FFFFFF"/>
                </a:solidFill>
                <a:latin typeface="Times New Roman" panose="02020603050405020304" pitchFamily="18" charset="0"/>
                <a:ea typeface="Calibri" pitchFamily="34" charset="-122"/>
                <a:cs typeface="Times New Roman" panose="02020603050405020304" pitchFamily="18" charset="0"/>
              </a:rPr>
              <a:t>k</a:t>
            </a:r>
            <a:r>
              <a:rPr lang="en-US" sz="2000" b="1" dirty="0" err="1">
                <a:solidFill>
                  <a:srgbClr val="FFFFFF"/>
                </a:solidFill>
                <a:latin typeface="Times New Roman" panose="02020603050405020304" pitchFamily="18" charset="0"/>
                <a:ea typeface="Calibri" pitchFamily="34" charset="-122"/>
                <a:cs typeface="Times New Roman" panose="02020603050405020304" pitchFamily="18" charset="0"/>
              </a:rPr>
              <a:t>emshilikleri</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274320" y="914400"/>
            <a:ext cx="4114800" cy="3931920"/>
          </a:xfrm>
          <a:prstGeom prst="roundRect">
            <a:avLst>
              <a:gd name="adj" fmla="val 2326"/>
            </a:avLst>
          </a:prstGeom>
          <a:solidFill>
            <a:srgbClr val="FFFFFF"/>
          </a:solidFill>
          <a:ln/>
          <a:effectLst>
            <a:outerShdw blurRad="101600" dist="38100" dir="2700000" algn="bl" rotWithShape="0">
              <a:srgbClr val="000000">
                <a:alpha val="15000"/>
              </a:srgbClr>
            </a:outerShdw>
          </a:effectLst>
        </p:spPr>
      </p:sp>
      <p:sp>
        <p:nvSpPr>
          <p:cNvPr id="5" name="Shape 3"/>
          <p:cNvSpPr/>
          <p:nvPr/>
        </p:nvSpPr>
        <p:spPr>
          <a:xfrm>
            <a:off x="4754880" y="914400"/>
            <a:ext cx="4114800" cy="3931920"/>
          </a:xfrm>
          <a:prstGeom prst="roundRect">
            <a:avLst>
              <a:gd name="adj" fmla="val 2326"/>
            </a:avLst>
          </a:prstGeom>
          <a:solidFill>
            <a:srgbClr val="FFFFFF"/>
          </a:solidFill>
          <a:ln/>
          <a:effectLst>
            <a:outerShdw blurRad="101600" dist="38100" dir="2700000" algn="bl" rotWithShape="0">
              <a:srgbClr val="000000">
                <a:alpha val="15000"/>
              </a:srgbClr>
            </a:outerShdw>
          </a:effectLst>
        </p:spPr>
      </p:sp>
      <p:sp>
        <p:nvSpPr>
          <p:cNvPr id="6" name="Text 4"/>
          <p:cNvSpPr/>
          <p:nvPr/>
        </p:nvSpPr>
        <p:spPr>
          <a:xfrm>
            <a:off x="457200" y="1051560"/>
            <a:ext cx="3749040" cy="3657600"/>
          </a:xfrm>
          <a:prstGeom prst="rect">
            <a:avLst/>
          </a:prstGeom>
          <a:noFill/>
          <a:ln/>
        </p:spPr>
        <p:txBody>
          <a:bodyPr wrap="square" rtlCol="0" anchor="t"/>
          <a:lstStyle/>
          <a:p>
            <a:pPr marL="0" indent="0" algn="just">
              <a:spcAft>
                <a:spcPts val="600"/>
              </a:spcAft>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Korzinka.uz</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Arnawlı sút platforması emes, barlıq ónim aralas. Bahalar supermarket dárejesi — joqarıraq. Awıllıq jerlerde jetkerip beriw joq.</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Express24.uz</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Ózi sút satpaydı, basqa dúkannan alıp keledi. Isıq/suwıq mashqala sebebli sút sapası tómenlewi múmkin.</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Uzum.uz</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Sút ónimleri tiykarǵı baǵdar emes. Fermer ónimleri az hám tártipsiz. Kóbirek kiyim/texnika platforması.</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4937760" y="1051560"/>
            <a:ext cx="3749040" cy="3657600"/>
          </a:xfrm>
          <a:prstGeom prst="rect">
            <a:avLst/>
          </a:prstGeom>
          <a:noFill/>
          <a:ln/>
        </p:spPr>
        <p:txBody>
          <a:bodyPr wrap="square" rtlCol="0" anchor="t"/>
          <a:lstStyle/>
          <a:p>
            <a:pPr marL="0" indent="0" algn="just">
              <a:spcAft>
                <a:spcPts val="600"/>
              </a:spcAft>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Makromarket.uz</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Tolıq onlayn buyırtpa imkaniyatı joq. Sayt tek katalog ushın isleydi. Óz betinshe jetkerip beriw sisteması qurılmagan.</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Bizdiń artıqshılıǵımız</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Tek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sut</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ónimleri</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 </a:t>
            </a:r>
            <a:r>
              <a:rPr lang="uz-Latn-UZ" sz="1400" dirty="0">
                <a:solidFill>
                  <a:srgbClr val="1A1A2E"/>
                </a:solidFill>
                <a:latin typeface="Times New Roman" panose="02020603050405020304" pitchFamily="18" charset="0"/>
                <a:ea typeface="Calibri" pitchFamily="34" charset="-122"/>
                <a:cs typeface="Times New Roman" panose="02020603050405020304" pitchFamily="18" charset="0"/>
              </a:rPr>
              <a:t>biyimlestiriw</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Fermerden</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tikkeley</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tutınıwshıǵa</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Termoboks</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arqalı</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sapa</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kepilligi</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Maqset bazar</a:t>
            </a:r>
            <a:endParaRPr lang="en-US" sz="1400" dirty="0">
              <a:latin typeface="Times New Roman" panose="02020603050405020304" pitchFamily="18" charset="0"/>
              <a:cs typeface="Times New Roman" panose="02020603050405020304" pitchFamily="18" charset="0"/>
            </a:endParaRPr>
          </a:p>
          <a:p>
            <a:pPr marL="0" indent="0" algn="just">
              <a:spcAft>
                <a:spcPts val="600"/>
              </a:spcAft>
              <a:buNone/>
            </a:pP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Búgingi</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uz-Latn-UZ" sz="1400" dirty="0">
                <a:solidFill>
                  <a:srgbClr val="1A1A2E"/>
                </a:solidFill>
                <a:latin typeface="Times New Roman" panose="02020603050405020304" pitchFamily="18" charset="0"/>
                <a:ea typeface="Calibri" pitchFamily="34" charset="-122"/>
                <a:cs typeface="Times New Roman" panose="02020603050405020304" pitchFamily="18" charset="0"/>
              </a:rPr>
              <a:t>sayt</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lardıń</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kemshiliklerin</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saplastırıw</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arnawlı</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tez</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sapalı</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sút</a:t>
            </a:r>
            <a:r>
              <a:rPr lang="en-US" sz="1400" dirty="0">
                <a:solidFill>
                  <a:srgbClr val="1A1A2E"/>
                </a:solidFill>
                <a:latin typeface="Times New Roman" panose="02020603050405020304" pitchFamily="18" charset="0"/>
                <a:ea typeface="Calibri" pitchFamily="34" charset="-122"/>
                <a:cs typeface="Times New Roman" panose="02020603050405020304" pitchFamily="18" charset="0"/>
              </a:rPr>
              <a:t> </a:t>
            </a:r>
            <a:r>
              <a:rPr lang="en-US" sz="1400" dirty="0" err="1">
                <a:solidFill>
                  <a:srgbClr val="1A1A2E"/>
                </a:solidFill>
                <a:latin typeface="Times New Roman" panose="02020603050405020304" pitchFamily="18" charset="0"/>
                <a:ea typeface="Calibri" pitchFamily="34" charset="-122"/>
                <a:cs typeface="Times New Roman" panose="02020603050405020304" pitchFamily="18" charset="0"/>
              </a:rPr>
              <a:t>ónimlerine</a:t>
            </a:r>
            <a:r>
              <a:rPr lang="uz-Latn-UZ" sz="1400" dirty="0">
                <a:solidFill>
                  <a:srgbClr val="1A1A2E"/>
                </a:solidFill>
                <a:latin typeface="Times New Roman" panose="02020603050405020304" pitchFamily="18" charset="0"/>
                <a:ea typeface="Calibri" pitchFamily="34" charset="-122"/>
                <a:cs typeface="Times New Roman" panose="02020603050405020304" pitchFamily="18" charset="0"/>
              </a:rPr>
              <a:t> biyimlesken jaratıw.</a:t>
            </a:r>
            <a:endParaRPr lang="en-US" sz="1400" dirty="0">
              <a:solidFill>
                <a:srgbClr val="1A1A2E"/>
              </a:solidFill>
              <a:latin typeface="Times New Roman" panose="02020603050405020304" pitchFamily="18" charset="0"/>
              <a:ea typeface="Calibri" pitchFamily="34"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5C63"/>
          </a:solidFill>
          <a:ln w="12700">
            <a:solidFill>
              <a:srgbClr val="0D5C63"/>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Muddetler — 6 ay rejesi</a:t>
            </a:r>
            <a:endParaRPr lang="en-US" sz="26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1051560"/>
            <a:ext cx="8412480" cy="685800"/>
          </a:xfrm>
          <a:prstGeom prst="roundRect">
            <a:avLst>
              <a:gd name="adj" fmla="val 10667"/>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5" name="Shape 3"/>
          <p:cNvSpPr/>
          <p:nvPr/>
        </p:nvSpPr>
        <p:spPr>
          <a:xfrm>
            <a:off x="457200" y="1161288"/>
            <a:ext cx="457200" cy="457200"/>
          </a:xfrm>
          <a:prstGeom prst="ellipse">
            <a:avLst/>
          </a:prstGeom>
          <a:solidFill>
            <a:srgbClr val="0D5C63"/>
          </a:solidFill>
          <a:ln w="12700">
            <a:solidFill>
              <a:srgbClr val="0D5C63"/>
            </a:solidFill>
            <a:prstDash val="solid"/>
          </a:ln>
        </p:spPr>
      </p:sp>
      <p:sp>
        <p:nvSpPr>
          <p:cNvPr id="6" name="Text 4"/>
          <p:cNvSpPr/>
          <p:nvPr/>
        </p:nvSpPr>
        <p:spPr>
          <a:xfrm>
            <a:off x="457200" y="1161288"/>
            <a:ext cx="457200" cy="45720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1051560" y="1097280"/>
            <a:ext cx="4572000" cy="320040"/>
          </a:xfrm>
          <a:prstGeom prst="rect">
            <a:avLst/>
          </a:prstGeom>
          <a:noFill/>
          <a:ln/>
        </p:spPr>
        <p:txBody>
          <a:bodyPr wrap="square" rtlCol="0" anchor="ctr"/>
          <a:lstStyle/>
          <a:p>
            <a:pPr marL="0" indent="0">
              <a:buNone/>
            </a:pPr>
            <a:r>
              <a:rPr lang="en-US" sz="1300" b="1" dirty="0">
                <a:solidFill>
                  <a:srgbClr val="0D5C63"/>
                </a:solidFill>
                <a:latin typeface="Times New Roman" panose="02020603050405020304" pitchFamily="18" charset="0"/>
                <a:ea typeface="Cambria" pitchFamily="34" charset="-122"/>
                <a:cs typeface="Times New Roman" panose="02020603050405020304" pitchFamily="18" charset="0"/>
              </a:rPr>
              <a:t>Tayarlıq hám Analiz</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1051560" y="1417320"/>
            <a:ext cx="2743200" cy="228600"/>
          </a:xfrm>
          <a:prstGeom prst="rect">
            <a:avLst/>
          </a:prstGeom>
          <a:noFill/>
          <a:ln/>
        </p:spPr>
        <p:txBody>
          <a:bodyPr wrap="square"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1–5-hápte</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5760720" y="1280160"/>
            <a:ext cx="2834640" cy="228600"/>
          </a:xfrm>
          <a:prstGeom prst="roundRect">
            <a:avLst>
              <a:gd name="adj" fmla="val 20000"/>
            </a:avLst>
          </a:prstGeom>
          <a:solidFill>
            <a:srgbClr val="E2E8F0"/>
          </a:solidFill>
          <a:ln w="12700">
            <a:solidFill>
              <a:srgbClr val="E2E8F0"/>
            </a:solidFill>
            <a:prstDash val="solid"/>
          </a:ln>
        </p:spPr>
      </p:sp>
      <p:sp>
        <p:nvSpPr>
          <p:cNvPr id="10" name="Shape 8"/>
          <p:cNvSpPr/>
          <p:nvPr/>
        </p:nvSpPr>
        <p:spPr>
          <a:xfrm>
            <a:off x="5760720" y="1280160"/>
            <a:ext cx="1828800" cy="228600"/>
          </a:xfrm>
          <a:prstGeom prst="roundRect">
            <a:avLst>
              <a:gd name="adj" fmla="val 20000"/>
            </a:avLst>
          </a:prstGeom>
          <a:solidFill>
            <a:srgbClr val="0D5C63"/>
          </a:solidFill>
          <a:ln w="12700">
            <a:solidFill>
              <a:srgbClr val="0D5C63"/>
            </a:solidFill>
            <a:prstDash val="solid"/>
          </a:ln>
        </p:spPr>
      </p:sp>
      <p:sp>
        <p:nvSpPr>
          <p:cNvPr id="11" name="Shape 9"/>
          <p:cNvSpPr/>
          <p:nvPr/>
        </p:nvSpPr>
        <p:spPr>
          <a:xfrm>
            <a:off x="365760" y="1856232"/>
            <a:ext cx="8412480" cy="685800"/>
          </a:xfrm>
          <a:prstGeom prst="roundRect">
            <a:avLst>
              <a:gd name="adj" fmla="val 10667"/>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2" name="Shape 10"/>
          <p:cNvSpPr/>
          <p:nvPr/>
        </p:nvSpPr>
        <p:spPr>
          <a:xfrm>
            <a:off x="457200" y="1965960"/>
            <a:ext cx="457200" cy="457200"/>
          </a:xfrm>
          <a:prstGeom prst="ellipse">
            <a:avLst/>
          </a:prstGeom>
          <a:solidFill>
            <a:srgbClr val="14919B"/>
          </a:solidFill>
          <a:ln w="12700">
            <a:solidFill>
              <a:srgbClr val="14919B"/>
            </a:solidFill>
            <a:prstDash val="solid"/>
          </a:ln>
        </p:spPr>
      </p:sp>
      <p:sp>
        <p:nvSpPr>
          <p:cNvPr id="13" name="Text 11"/>
          <p:cNvSpPr/>
          <p:nvPr/>
        </p:nvSpPr>
        <p:spPr>
          <a:xfrm>
            <a:off x="457200" y="1965960"/>
            <a:ext cx="457200" cy="45720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1051560" y="1901952"/>
            <a:ext cx="4572000" cy="320040"/>
          </a:xfrm>
          <a:prstGeom prst="rect">
            <a:avLst/>
          </a:prstGeom>
          <a:noFill/>
          <a:ln/>
        </p:spPr>
        <p:txBody>
          <a:bodyPr wrap="square" rtlCol="0" anchor="ctr"/>
          <a:lstStyle/>
          <a:p>
            <a:pPr marL="0" indent="0">
              <a:buNone/>
            </a:pPr>
            <a:r>
              <a:rPr lang="en-US" sz="1300" b="1" dirty="0">
                <a:solidFill>
                  <a:srgbClr val="0D5C63"/>
                </a:solidFill>
                <a:latin typeface="Times New Roman" panose="02020603050405020304" pitchFamily="18" charset="0"/>
                <a:ea typeface="Cambria" pitchFamily="34" charset="-122"/>
                <a:cs typeface="Times New Roman" panose="02020603050405020304" pitchFamily="18" charset="0"/>
              </a:rPr>
              <a:t>Texnikalıq islep shıǵıw</a:t>
            </a:r>
            <a:endParaRPr lang="en-US" sz="1300" dirty="0">
              <a:latin typeface="Times New Roman" panose="02020603050405020304" pitchFamily="18" charset="0"/>
              <a:cs typeface="Times New Roman" panose="02020603050405020304" pitchFamily="18" charset="0"/>
            </a:endParaRPr>
          </a:p>
        </p:txBody>
      </p:sp>
      <p:sp>
        <p:nvSpPr>
          <p:cNvPr id="15" name="Text 13"/>
          <p:cNvSpPr/>
          <p:nvPr/>
        </p:nvSpPr>
        <p:spPr>
          <a:xfrm>
            <a:off x="1051560" y="2221992"/>
            <a:ext cx="2743200" cy="228600"/>
          </a:xfrm>
          <a:prstGeom prst="rect">
            <a:avLst/>
          </a:prstGeom>
          <a:noFill/>
          <a:ln/>
        </p:spPr>
        <p:txBody>
          <a:bodyPr wrap="square"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5–14-hápte</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5760720" y="2084832"/>
            <a:ext cx="2834640" cy="228600"/>
          </a:xfrm>
          <a:prstGeom prst="roundRect">
            <a:avLst>
              <a:gd name="adj" fmla="val 20000"/>
            </a:avLst>
          </a:prstGeom>
          <a:solidFill>
            <a:srgbClr val="E2E8F0"/>
          </a:solidFill>
          <a:ln w="12700">
            <a:solidFill>
              <a:srgbClr val="E2E8F0"/>
            </a:solidFill>
            <a:prstDash val="solid"/>
          </a:ln>
        </p:spPr>
      </p:sp>
      <p:sp>
        <p:nvSpPr>
          <p:cNvPr id="17" name="Shape 15"/>
          <p:cNvSpPr/>
          <p:nvPr/>
        </p:nvSpPr>
        <p:spPr>
          <a:xfrm>
            <a:off x="5760720" y="2084832"/>
            <a:ext cx="2926080" cy="228600"/>
          </a:xfrm>
          <a:prstGeom prst="roundRect">
            <a:avLst>
              <a:gd name="adj" fmla="val 20000"/>
            </a:avLst>
          </a:prstGeom>
          <a:solidFill>
            <a:srgbClr val="14919B"/>
          </a:solidFill>
          <a:ln w="12700">
            <a:solidFill>
              <a:srgbClr val="14919B"/>
            </a:solidFill>
            <a:prstDash val="solid"/>
          </a:ln>
        </p:spPr>
      </p:sp>
      <p:sp>
        <p:nvSpPr>
          <p:cNvPr id="18" name="Shape 16"/>
          <p:cNvSpPr/>
          <p:nvPr/>
        </p:nvSpPr>
        <p:spPr>
          <a:xfrm>
            <a:off x="365760" y="2660904"/>
            <a:ext cx="8412480" cy="685800"/>
          </a:xfrm>
          <a:prstGeom prst="roundRect">
            <a:avLst>
              <a:gd name="adj" fmla="val 10667"/>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19" name="Shape 17"/>
          <p:cNvSpPr/>
          <p:nvPr/>
        </p:nvSpPr>
        <p:spPr>
          <a:xfrm>
            <a:off x="457200" y="2770632"/>
            <a:ext cx="457200" cy="457200"/>
          </a:xfrm>
          <a:prstGeom prst="ellipse">
            <a:avLst/>
          </a:prstGeom>
          <a:solidFill>
            <a:srgbClr val="F4A261"/>
          </a:solidFill>
          <a:ln w="12700">
            <a:solidFill>
              <a:srgbClr val="F4A261"/>
            </a:solidFill>
            <a:prstDash val="solid"/>
          </a:ln>
        </p:spPr>
      </p:sp>
      <p:sp>
        <p:nvSpPr>
          <p:cNvPr id="20" name="Text 18"/>
          <p:cNvSpPr/>
          <p:nvPr/>
        </p:nvSpPr>
        <p:spPr>
          <a:xfrm>
            <a:off x="457200" y="2770632"/>
            <a:ext cx="457200" cy="45720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1051560" y="2706624"/>
            <a:ext cx="4572000" cy="320040"/>
          </a:xfrm>
          <a:prstGeom prst="rect">
            <a:avLst/>
          </a:prstGeom>
          <a:noFill/>
          <a:ln/>
        </p:spPr>
        <p:txBody>
          <a:bodyPr wrap="square" rtlCol="0" anchor="ctr"/>
          <a:lstStyle/>
          <a:p>
            <a:pPr marL="0" indent="0">
              <a:buNone/>
            </a:pPr>
            <a:r>
              <a:rPr lang="en-US" sz="1300" b="1" dirty="0">
                <a:solidFill>
                  <a:srgbClr val="0D5C63"/>
                </a:solidFill>
                <a:latin typeface="Times New Roman" panose="02020603050405020304" pitchFamily="18" charset="0"/>
                <a:ea typeface="Cambria" pitchFamily="34" charset="-122"/>
                <a:cs typeface="Times New Roman" panose="02020603050405020304" pitchFamily="18" charset="0"/>
              </a:rPr>
              <a:t>Logistika hám Brending</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1051560" y="3026664"/>
            <a:ext cx="2743200" cy="228600"/>
          </a:xfrm>
          <a:prstGeom prst="rect">
            <a:avLst/>
          </a:prstGeom>
          <a:noFill/>
          <a:ln/>
        </p:spPr>
        <p:txBody>
          <a:bodyPr wrap="square"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14–19-hápte</a:t>
            </a:r>
            <a:endParaRPr lang="en-US" sz="1000" dirty="0">
              <a:latin typeface="Times New Roman" panose="02020603050405020304" pitchFamily="18" charset="0"/>
              <a:cs typeface="Times New Roman" panose="02020603050405020304" pitchFamily="18" charset="0"/>
            </a:endParaRPr>
          </a:p>
        </p:txBody>
      </p:sp>
      <p:sp>
        <p:nvSpPr>
          <p:cNvPr id="23" name="Shape 21"/>
          <p:cNvSpPr/>
          <p:nvPr/>
        </p:nvSpPr>
        <p:spPr>
          <a:xfrm>
            <a:off x="5760720" y="2889504"/>
            <a:ext cx="2834640" cy="228600"/>
          </a:xfrm>
          <a:prstGeom prst="roundRect">
            <a:avLst>
              <a:gd name="adj" fmla="val 20000"/>
            </a:avLst>
          </a:prstGeom>
          <a:solidFill>
            <a:srgbClr val="E2E8F0"/>
          </a:solidFill>
          <a:ln w="12700">
            <a:solidFill>
              <a:srgbClr val="E2E8F0"/>
            </a:solidFill>
            <a:prstDash val="solid"/>
          </a:ln>
        </p:spPr>
      </p:sp>
      <p:sp>
        <p:nvSpPr>
          <p:cNvPr id="24" name="Shape 22"/>
          <p:cNvSpPr/>
          <p:nvPr/>
        </p:nvSpPr>
        <p:spPr>
          <a:xfrm>
            <a:off x="5760720" y="2889504"/>
            <a:ext cx="2286000" cy="228600"/>
          </a:xfrm>
          <a:prstGeom prst="roundRect">
            <a:avLst>
              <a:gd name="adj" fmla="val 20000"/>
            </a:avLst>
          </a:prstGeom>
          <a:solidFill>
            <a:srgbClr val="F4A261"/>
          </a:solidFill>
          <a:ln w="12700">
            <a:solidFill>
              <a:srgbClr val="F4A261"/>
            </a:solidFill>
            <a:prstDash val="solid"/>
          </a:ln>
        </p:spPr>
      </p:sp>
      <p:sp>
        <p:nvSpPr>
          <p:cNvPr id="25" name="Shape 23"/>
          <p:cNvSpPr/>
          <p:nvPr/>
        </p:nvSpPr>
        <p:spPr>
          <a:xfrm>
            <a:off x="365760" y="3465576"/>
            <a:ext cx="8412480" cy="685800"/>
          </a:xfrm>
          <a:prstGeom prst="roundRect">
            <a:avLst>
              <a:gd name="adj" fmla="val 10667"/>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26" name="Shape 24"/>
          <p:cNvSpPr/>
          <p:nvPr/>
        </p:nvSpPr>
        <p:spPr>
          <a:xfrm>
            <a:off x="457200" y="3575304"/>
            <a:ext cx="457200" cy="457200"/>
          </a:xfrm>
          <a:prstGeom prst="ellipse">
            <a:avLst/>
          </a:prstGeom>
          <a:solidFill>
            <a:srgbClr val="E76F51"/>
          </a:solidFill>
          <a:ln w="12700">
            <a:solidFill>
              <a:srgbClr val="E76F51"/>
            </a:solidFill>
            <a:prstDash val="solid"/>
          </a:ln>
        </p:spPr>
      </p:sp>
      <p:sp>
        <p:nvSpPr>
          <p:cNvPr id="27" name="Text 25"/>
          <p:cNvSpPr/>
          <p:nvPr/>
        </p:nvSpPr>
        <p:spPr>
          <a:xfrm>
            <a:off x="457200" y="3575304"/>
            <a:ext cx="457200" cy="45720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051560" y="3511296"/>
            <a:ext cx="4572000" cy="320040"/>
          </a:xfrm>
          <a:prstGeom prst="rect">
            <a:avLst/>
          </a:prstGeom>
          <a:noFill/>
          <a:ln/>
        </p:spPr>
        <p:txBody>
          <a:bodyPr wrap="square" rtlCol="0" anchor="ctr"/>
          <a:lstStyle/>
          <a:p>
            <a:pPr marL="0" indent="0">
              <a:buNone/>
            </a:pPr>
            <a:r>
              <a:rPr lang="uz-Latn-UZ" sz="1300" b="1" dirty="0">
                <a:solidFill>
                  <a:srgbClr val="0D5C63"/>
                </a:solidFill>
                <a:latin typeface="Times New Roman" panose="02020603050405020304" pitchFamily="18" charset="0"/>
                <a:ea typeface="Cambria" pitchFamily="34" charset="-122"/>
                <a:cs typeface="Times New Roman" panose="02020603050405020304" pitchFamily="18" charset="0"/>
              </a:rPr>
              <a:t>Test rejimi</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1051560" y="3831336"/>
            <a:ext cx="2743200" cy="228600"/>
          </a:xfrm>
          <a:prstGeom prst="rect">
            <a:avLst/>
          </a:prstGeom>
          <a:noFill/>
          <a:ln/>
        </p:spPr>
        <p:txBody>
          <a:bodyPr wrap="square"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19–23-hápte</a:t>
            </a:r>
            <a:endParaRPr lang="en-US" sz="1000" dirty="0">
              <a:latin typeface="Times New Roman" panose="02020603050405020304" pitchFamily="18" charset="0"/>
              <a:cs typeface="Times New Roman" panose="02020603050405020304" pitchFamily="18" charset="0"/>
            </a:endParaRPr>
          </a:p>
        </p:txBody>
      </p:sp>
      <p:sp>
        <p:nvSpPr>
          <p:cNvPr id="30" name="Shape 28"/>
          <p:cNvSpPr/>
          <p:nvPr/>
        </p:nvSpPr>
        <p:spPr>
          <a:xfrm>
            <a:off x="5760720" y="3694176"/>
            <a:ext cx="2834640" cy="228600"/>
          </a:xfrm>
          <a:prstGeom prst="roundRect">
            <a:avLst>
              <a:gd name="adj" fmla="val 20000"/>
            </a:avLst>
          </a:prstGeom>
          <a:solidFill>
            <a:srgbClr val="E2E8F0"/>
          </a:solidFill>
          <a:ln w="12700">
            <a:solidFill>
              <a:srgbClr val="E2E8F0"/>
            </a:solidFill>
            <a:prstDash val="solid"/>
          </a:ln>
        </p:spPr>
      </p:sp>
      <p:sp>
        <p:nvSpPr>
          <p:cNvPr id="31" name="Shape 29"/>
          <p:cNvSpPr/>
          <p:nvPr/>
        </p:nvSpPr>
        <p:spPr>
          <a:xfrm>
            <a:off x="5760720" y="3694176"/>
            <a:ext cx="1828800" cy="228600"/>
          </a:xfrm>
          <a:prstGeom prst="roundRect">
            <a:avLst>
              <a:gd name="adj" fmla="val 20000"/>
            </a:avLst>
          </a:prstGeom>
          <a:solidFill>
            <a:srgbClr val="E76F51"/>
          </a:solidFill>
          <a:ln w="12700">
            <a:solidFill>
              <a:srgbClr val="E76F51"/>
            </a:solidFill>
            <a:prstDash val="solid"/>
          </a:ln>
        </p:spPr>
      </p:sp>
      <p:sp>
        <p:nvSpPr>
          <p:cNvPr id="32" name="Shape 30"/>
          <p:cNvSpPr/>
          <p:nvPr/>
        </p:nvSpPr>
        <p:spPr>
          <a:xfrm>
            <a:off x="365760" y="4270248"/>
            <a:ext cx="8412480" cy="685800"/>
          </a:xfrm>
          <a:prstGeom prst="roundRect">
            <a:avLst>
              <a:gd name="adj" fmla="val 10667"/>
            </a:avLst>
          </a:prstGeom>
          <a:solidFill>
            <a:srgbClr val="FFFFFF"/>
          </a:solidFill>
          <a:ln w="12700">
            <a:solidFill>
              <a:srgbClr val="CCF3F5"/>
            </a:solidFill>
            <a:prstDash val="solid"/>
          </a:ln>
          <a:effectLst>
            <a:outerShdw blurRad="101600" dist="38100" dir="2700000" algn="bl" rotWithShape="0">
              <a:srgbClr val="000000">
                <a:alpha val="12000"/>
              </a:srgbClr>
            </a:outerShdw>
          </a:effectLst>
        </p:spPr>
      </p:sp>
      <p:sp>
        <p:nvSpPr>
          <p:cNvPr id="33" name="Shape 31"/>
          <p:cNvSpPr/>
          <p:nvPr/>
        </p:nvSpPr>
        <p:spPr>
          <a:xfrm>
            <a:off x="457200" y="4379976"/>
            <a:ext cx="457200" cy="457200"/>
          </a:xfrm>
          <a:prstGeom prst="ellipse">
            <a:avLst/>
          </a:prstGeom>
          <a:solidFill>
            <a:srgbClr val="2A9D8F"/>
          </a:solidFill>
          <a:ln w="12700">
            <a:solidFill>
              <a:srgbClr val="2A9D8F"/>
            </a:solidFill>
            <a:prstDash val="solid"/>
          </a:ln>
        </p:spPr>
      </p:sp>
      <p:sp>
        <p:nvSpPr>
          <p:cNvPr id="34" name="Text 32"/>
          <p:cNvSpPr/>
          <p:nvPr/>
        </p:nvSpPr>
        <p:spPr>
          <a:xfrm>
            <a:off x="457200" y="4379976"/>
            <a:ext cx="457200" cy="45720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35" name="Text 33"/>
          <p:cNvSpPr/>
          <p:nvPr/>
        </p:nvSpPr>
        <p:spPr>
          <a:xfrm>
            <a:off x="1051560" y="4315968"/>
            <a:ext cx="4572000" cy="320040"/>
          </a:xfrm>
          <a:prstGeom prst="rect">
            <a:avLst/>
          </a:prstGeom>
          <a:noFill/>
          <a:ln/>
        </p:spPr>
        <p:txBody>
          <a:bodyPr wrap="square" rtlCol="0" anchor="ctr"/>
          <a:lstStyle/>
          <a:p>
            <a:pPr marL="0" indent="0">
              <a:buNone/>
            </a:pPr>
            <a:r>
              <a:rPr lang="en-US" sz="1300" b="1" dirty="0">
                <a:solidFill>
                  <a:srgbClr val="0D5C63"/>
                </a:solidFill>
                <a:latin typeface="Times New Roman" panose="02020603050405020304" pitchFamily="18" charset="0"/>
                <a:ea typeface="Cambria" pitchFamily="34" charset="-122"/>
                <a:cs typeface="Times New Roman" panose="02020603050405020304" pitchFamily="18" charset="0"/>
              </a:rPr>
              <a:t>Rásmiy Start</a:t>
            </a:r>
            <a:endParaRPr lang="en-US" sz="1300" dirty="0">
              <a:latin typeface="Times New Roman" panose="02020603050405020304" pitchFamily="18" charset="0"/>
              <a:cs typeface="Times New Roman" panose="02020603050405020304" pitchFamily="18" charset="0"/>
            </a:endParaRPr>
          </a:p>
        </p:txBody>
      </p:sp>
      <p:sp>
        <p:nvSpPr>
          <p:cNvPr id="36" name="Text 34"/>
          <p:cNvSpPr/>
          <p:nvPr/>
        </p:nvSpPr>
        <p:spPr>
          <a:xfrm>
            <a:off x="1051560" y="4636008"/>
            <a:ext cx="2743200" cy="228600"/>
          </a:xfrm>
          <a:prstGeom prst="rect">
            <a:avLst/>
          </a:prstGeom>
          <a:noFill/>
          <a:ln/>
        </p:spPr>
        <p:txBody>
          <a:bodyPr wrap="square"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24-hápte</a:t>
            </a:r>
            <a:endParaRPr lang="en-US" sz="1000" dirty="0">
              <a:latin typeface="Times New Roman" panose="02020603050405020304" pitchFamily="18" charset="0"/>
              <a:cs typeface="Times New Roman" panose="02020603050405020304" pitchFamily="18" charset="0"/>
            </a:endParaRPr>
          </a:p>
        </p:txBody>
      </p:sp>
      <p:sp>
        <p:nvSpPr>
          <p:cNvPr id="37" name="Shape 35"/>
          <p:cNvSpPr/>
          <p:nvPr/>
        </p:nvSpPr>
        <p:spPr>
          <a:xfrm>
            <a:off x="5760720" y="4498848"/>
            <a:ext cx="2834640" cy="228600"/>
          </a:xfrm>
          <a:prstGeom prst="roundRect">
            <a:avLst>
              <a:gd name="adj" fmla="val 20000"/>
            </a:avLst>
          </a:prstGeom>
          <a:solidFill>
            <a:srgbClr val="E2E8F0"/>
          </a:solidFill>
          <a:ln w="12700">
            <a:solidFill>
              <a:srgbClr val="E2E8F0"/>
            </a:solidFill>
            <a:prstDash val="solid"/>
          </a:ln>
        </p:spPr>
      </p:sp>
      <p:sp>
        <p:nvSpPr>
          <p:cNvPr id="38" name="Shape 36"/>
          <p:cNvSpPr/>
          <p:nvPr/>
        </p:nvSpPr>
        <p:spPr>
          <a:xfrm>
            <a:off x="5760720" y="4498848"/>
            <a:ext cx="914400" cy="228600"/>
          </a:xfrm>
          <a:prstGeom prst="roundRect">
            <a:avLst>
              <a:gd name="adj" fmla="val 20000"/>
            </a:avLst>
          </a:prstGeom>
          <a:solidFill>
            <a:srgbClr val="2A9D8F"/>
          </a:solidFill>
          <a:ln w="12700">
            <a:solidFill>
              <a:srgbClr val="2A9D8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E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919B"/>
          </a:solidFill>
          <a:ln w="12700">
            <a:solidFill>
              <a:srgbClr val="14919B"/>
            </a:solidFill>
            <a:prstDash val="solid"/>
          </a:ln>
        </p:spPr>
      </p:sp>
      <p:sp>
        <p:nvSpPr>
          <p:cNvPr id="3" name="Text 1"/>
          <p:cNvSpPr/>
          <p:nvPr/>
        </p:nvSpPr>
        <p:spPr>
          <a:xfrm>
            <a:off x="365760" y="91440"/>
            <a:ext cx="8229600" cy="731520"/>
          </a:xfrm>
          <a:prstGeom prst="rect">
            <a:avLst/>
          </a:prstGeom>
          <a:noFill/>
          <a:ln/>
        </p:spPr>
        <p:txBody>
          <a:bodyPr wrap="square" rtlCol="0" anchor="ctr"/>
          <a:lstStyle/>
          <a:p>
            <a:pPr marL="0" indent="0">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Baqlaw (Monitoring)</a:t>
            </a:r>
            <a:endParaRPr lang="en-US" sz="26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1051560"/>
            <a:ext cx="2743200" cy="502920"/>
          </a:xfrm>
          <a:prstGeom prst="rect">
            <a:avLst/>
          </a:prstGeom>
          <a:solidFill>
            <a:srgbClr val="0D5C63"/>
          </a:solidFill>
          <a:ln w="12700">
            <a:solidFill>
              <a:srgbClr val="0D5C63"/>
            </a:solidFill>
            <a:prstDash val="solid"/>
          </a:ln>
        </p:spPr>
      </p:sp>
      <p:sp>
        <p:nvSpPr>
          <p:cNvPr id="5" name="Text 3"/>
          <p:cNvSpPr/>
          <p:nvPr/>
        </p:nvSpPr>
        <p:spPr>
          <a:xfrm>
            <a:off x="365760" y="1051560"/>
            <a:ext cx="2743200" cy="50292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Baqlaw obyekti</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3200400" y="1051560"/>
            <a:ext cx="2743200" cy="502920"/>
          </a:xfrm>
          <a:prstGeom prst="rect">
            <a:avLst/>
          </a:prstGeom>
          <a:solidFill>
            <a:srgbClr val="0D5C63"/>
          </a:solidFill>
          <a:ln w="12700">
            <a:solidFill>
              <a:srgbClr val="0D5C63"/>
            </a:solidFill>
            <a:prstDash val="solid"/>
          </a:ln>
        </p:spPr>
      </p:sp>
      <p:sp>
        <p:nvSpPr>
          <p:cNvPr id="7" name="Text 5"/>
          <p:cNvSpPr/>
          <p:nvPr/>
        </p:nvSpPr>
        <p:spPr>
          <a:xfrm>
            <a:off x="3200400" y="1051560"/>
            <a:ext cx="2743200" cy="50292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Qanday gúzetiledi</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6035040" y="1051560"/>
            <a:ext cx="2743200" cy="502920"/>
          </a:xfrm>
          <a:prstGeom prst="rect">
            <a:avLst/>
          </a:prstGeom>
          <a:solidFill>
            <a:srgbClr val="0D5C63"/>
          </a:solidFill>
          <a:ln w="12700">
            <a:solidFill>
              <a:srgbClr val="0D5C63"/>
            </a:solidFill>
            <a:prstDash val="solid"/>
          </a:ln>
        </p:spPr>
      </p:sp>
      <p:sp>
        <p:nvSpPr>
          <p:cNvPr id="9" name="Text 7"/>
          <p:cNvSpPr/>
          <p:nvPr/>
        </p:nvSpPr>
        <p:spPr>
          <a:xfrm>
            <a:off x="6035040" y="1051560"/>
            <a:ext cx="2743200" cy="50292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Cambria" pitchFamily="34" charset="-122"/>
                <a:cs typeface="Times New Roman" panose="02020603050405020304" pitchFamily="18" charset="0"/>
              </a:rPr>
              <a:t>Nátiyje</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365760" y="1554480"/>
            <a:ext cx="2743200" cy="731520"/>
          </a:xfrm>
          <a:prstGeom prst="rect">
            <a:avLst/>
          </a:prstGeom>
          <a:solidFill>
            <a:srgbClr val="FFFFFF"/>
          </a:solidFill>
          <a:ln w="12700">
            <a:solidFill>
              <a:srgbClr val="CCF3F5"/>
            </a:solidFill>
            <a:prstDash val="solid"/>
          </a:ln>
        </p:spPr>
      </p:sp>
      <p:sp>
        <p:nvSpPr>
          <p:cNvPr id="11" name="Text 9"/>
          <p:cNvSpPr/>
          <p:nvPr/>
        </p:nvSpPr>
        <p:spPr>
          <a:xfrm>
            <a:off x="457200" y="155448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Sapa</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3200400" y="1554480"/>
            <a:ext cx="2743200" cy="731520"/>
          </a:xfrm>
          <a:prstGeom prst="rect">
            <a:avLst/>
          </a:prstGeom>
          <a:solidFill>
            <a:srgbClr val="FFFFFF"/>
          </a:solidFill>
          <a:ln w="12700">
            <a:solidFill>
              <a:srgbClr val="CCF3F5"/>
            </a:solidFill>
            <a:prstDash val="solid"/>
          </a:ln>
        </p:spPr>
      </p:sp>
      <p:sp>
        <p:nvSpPr>
          <p:cNvPr id="13" name="Text 11"/>
          <p:cNvSpPr/>
          <p:nvPr/>
        </p:nvSpPr>
        <p:spPr>
          <a:xfrm>
            <a:off x="3291840" y="155448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Temperatura datchikleri</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6035040" y="1554480"/>
            <a:ext cx="2743200" cy="731520"/>
          </a:xfrm>
          <a:prstGeom prst="rect">
            <a:avLst/>
          </a:prstGeom>
          <a:solidFill>
            <a:srgbClr val="FFFFFF"/>
          </a:solidFill>
          <a:ln w="12700">
            <a:solidFill>
              <a:srgbClr val="CCF3F5"/>
            </a:solidFill>
            <a:prstDash val="solid"/>
          </a:ln>
        </p:spPr>
      </p:sp>
      <p:sp>
        <p:nvSpPr>
          <p:cNvPr id="15" name="Text 13"/>
          <p:cNvSpPr/>
          <p:nvPr/>
        </p:nvSpPr>
        <p:spPr>
          <a:xfrm>
            <a:off x="6126480" y="155448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4–6°C saqlanıwı</a:t>
            </a:r>
            <a:endParaRPr lang="en-US" sz="1200" dirty="0">
              <a:latin typeface="Times New Roman" panose="02020603050405020304" pitchFamily="18" charset="0"/>
              <a:cs typeface="Times New Roman" panose="02020603050405020304" pitchFamily="18" charset="0"/>
            </a:endParaRPr>
          </a:p>
        </p:txBody>
      </p:sp>
      <p:sp>
        <p:nvSpPr>
          <p:cNvPr id="16" name="Shape 14"/>
          <p:cNvSpPr/>
          <p:nvPr/>
        </p:nvSpPr>
        <p:spPr>
          <a:xfrm>
            <a:off x="365760" y="2331720"/>
            <a:ext cx="2743200" cy="731520"/>
          </a:xfrm>
          <a:prstGeom prst="rect">
            <a:avLst/>
          </a:prstGeom>
          <a:solidFill>
            <a:srgbClr val="CCF3F5"/>
          </a:solidFill>
          <a:ln w="12700">
            <a:solidFill>
              <a:srgbClr val="CCF3F5"/>
            </a:solidFill>
            <a:prstDash val="solid"/>
          </a:ln>
        </p:spPr>
      </p:sp>
      <p:sp>
        <p:nvSpPr>
          <p:cNvPr id="17" name="Text 15"/>
          <p:cNvSpPr/>
          <p:nvPr/>
        </p:nvSpPr>
        <p:spPr>
          <a:xfrm>
            <a:off x="457200" y="233172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Waqıt</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3200400" y="2331720"/>
            <a:ext cx="2743200" cy="731520"/>
          </a:xfrm>
          <a:prstGeom prst="rect">
            <a:avLst/>
          </a:prstGeom>
          <a:solidFill>
            <a:srgbClr val="CCF3F5"/>
          </a:solidFill>
          <a:ln w="12700">
            <a:solidFill>
              <a:srgbClr val="CCF3F5"/>
            </a:solidFill>
            <a:prstDash val="solid"/>
          </a:ln>
        </p:spPr>
      </p:sp>
      <p:sp>
        <p:nvSpPr>
          <p:cNvPr id="19" name="Text 17"/>
          <p:cNvSpPr/>
          <p:nvPr/>
        </p:nvSpPr>
        <p:spPr>
          <a:xfrm>
            <a:off x="3291840" y="233172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GPS hám </a:t>
            </a:r>
            <a:r>
              <a:rPr lang="en-US" sz="1200" dirty="0" err="1">
                <a:solidFill>
                  <a:srgbClr val="1E293B"/>
                </a:solidFill>
                <a:latin typeface="Times New Roman" panose="02020603050405020304" pitchFamily="18" charset="0"/>
                <a:ea typeface="Calibri" pitchFamily="34" charset="-122"/>
                <a:cs typeface="Times New Roman" panose="02020603050405020304" pitchFamily="18" charset="0"/>
              </a:rPr>
              <a:t>kurer</a:t>
            </a: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20" name="Shape 18"/>
          <p:cNvSpPr/>
          <p:nvPr/>
        </p:nvSpPr>
        <p:spPr>
          <a:xfrm>
            <a:off x="6035040" y="2331720"/>
            <a:ext cx="2743200" cy="731520"/>
          </a:xfrm>
          <a:prstGeom prst="rect">
            <a:avLst/>
          </a:prstGeom>
          <a:solidFill>
            <a:srgbClr val="CCF3F5"/>
          </a:solidFill>
          <a:ln w="12700">
            <a:solidFill>
              <a:srgbClr val="CCF3F5"/>
            </a:solidFill>
            <a:prstDash val="solid"/>
          </a:ln>
        </p:spPr>
      </p:sp>
      <p:sp>
        <p:nvSpPr>
          <p:cNvPr id="21" name="Text 19"/>
          <p:cNvSpPr/>
          <p:nvPr/>
        </p:nvSpPr>
        <p:spPr>
          <a:xfrm>
            <a:off x="6126480" y="233172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Jetkeriw waqtı &lt; 30 minut</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365760" y="3108960"/>
            <a:ext cx="2743200" cy="731520"/>
          </a:xfrm>
          <a:prstGeom prst="rect">
            <a:avLst/>
          </a:prstGeom>
          <a:solidFill>
            <a:srgbClr val="FFFFFF"/>
          </a:solidFill>
          <a:ln w="12700">
            <a:solidFill>
              <a:srgbClr val="CCF3F5"/>
            </a:solidFill>
            <a:prstDash val="solid"/>
          </a:ln>
        </p:spPr>
      </p:sp>
      <p:sp>
        <p:nvSpPr>
          <p:cNvPr id="23" name="Text 21"/>
          <p:cNvSpPr/>
          <p:nvPr/>
        </p:nvSpPr>
        <p:spPr>
          <a:xfrm>
            <a:off x="457200" y="310896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Klient</a:t>
            </a:r>
            <a:endParaRPr lang="en-US" sz="1200" dirty="0">
              <a:latin typeface="Times New Roman" panose="02020603050405020304" pitchFamily="18" charset="0"/>
              <a:cs typeface="Times New Roman" panose="02020603050405020304" pitchFamily="18" charset="0"/>
            </a:endParaRPr>
          </a:p>
        </p:txBody>
      </p:sp>
      <p:sp>
        <p:nvSpPr>
          <p:cNvPr id="24" name="Shape 22"/>
          <p:cNvSpPr/>
          <p:nvPr/>
        </p:nvSpPr>
        <p:spPr>
          <a:xfrm>
            <a:off x="3200400" y="3108960"/>
            <a:ext cx="2743200" cy="731520"/>
          </a:xfrm>
          <a:prstGeom prst="rect">
            <a:avLst/>
          </a:prstGeom>
          <a:solidFill>
            <a:srgbClr val="FFFFFF"/>
          </a:solidFill>
          <a:ln w="12700">
            <a:solidFill>
              <a:srgbClr val="CCF3F5"/>
            </a:solidFill>
            <a:prstDash val="solid"/>
          </a:ln>
        </p:spPr>
      </p:sp>
      <p:sp>
        <p:nvSpPr>
          <p:cNvPr id="25" name="Text 23"/>
          <p:cNvSpPr/>
          <p:nvPr/>
        </p:nvSpPr>
        <p:spPr>
          <a:xfrm>
            <a:off x="3291840" y="310896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Sorawnama hám reyting</a:t>
            </a:r>
            <a:endParaRPr lang="en-US" sz="1200" dirty="0">
              <a:latin typeface="Times New Roman" panose="02020603050405020304" pitchFamily="18" charset="0"/>
              <a:cs typeface="Times New Roman" panose="02020603050405020304" pitchFamily="18" charset="0"/>
            </a:endParaRPr>
          </a:p>
        </p:txBody>
      </p:sp>
      <p:sp>
        <p:nvSpPr>
          <p:cNvPr id="26" name="Shape 24"/>
          <p:cNvSpPr/>
          <p:nvPr/>
        </p:nvSpPr>
        <p:spPr>
          <a:xfrm>
            <a:off x="6035040" y="3108960"/>
            <a:ext cx="2743200" cy="731520"/>
          </a:xfrm>
          <a:prstGeom prst="rect">
            <a:avLst/>
          </a:prstGeom>
          <a:solidFill>
            <a:srgbClr val="FFFFFF"/>
          </a:solidFill>
          <a:ln w="12700">
            <a:solidFill>
              <a:srgbClr val="CCF3F5"/>
            </a:solidFill>
            <a:prstDash val="solid"/>
          </a:ln>
        </p:spPr>
      </p:sp>
      <p:sp>
        <p:nvSpPr>
          <p:cNvPr id="27" name="Text 25"/>
          <p:cNvSpPr/>
          <p:nvPr/>
        </p:nvSpPr>
        <p:spPr>
          <a:xfrm>
            <a:off x="6126480" y="310896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90% unamlı pikir</a:t>
            </a:r>
            <a:endParaRPr lang="en-US" sz="1200" dirty="0">
              <a:latin typeface="Times New Roman" panose="02020603050405020304" pitchFamily="18" charset="0"/>
              <a:cs typeface="Times New Roman" panose="02020603050405020304" pitchFamily="18" charset="0"/>
            </a:endParaRPr>
          </a:p>
        </p:txBody>
      </p:sp>
      <p:sp>
        <p:nvSpPr>
          <p:cNvPr id="28" name="Shape 26"/>
          <p:cNvSpPr/>
          <p:nvPr/>
        </p:nvSpPr>
        <p:spPr>
          <a:xfrm>
            <a:off x="365760" y="3886200"/>
            <a:ext cx="2743200" cy="731520"/>
          </a:xfrm>
          <a:prstGeom prst="rect">
            <a:avLst/>
          </a:prstGeom>
          <a:solidFill>
            <a:srgbClr val="CCF3F5"/>
          </a:solidFill>
          <a:ln w="12700">
            <a:solidFill>
              <a:srgbClr val="CCF3F5"/>
            </a:solidFill>
            <a:prstDash val="solid"/>
          </a:ln>
        </p:spPr>
      </p:sp>
      <p:sp>
        <p:nvSpPr>
          <p:cNvPr id="29" name="Text 27"/>
          <p:cNvSpPr/>
          <p:nvPr/>
        </p:nvSpPr>
        <p:spPr>
          <a:xfrm>
            <a:off x="457200" y="388620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Finans</a:t>
            </a:r>
            <a:endParaRPr lang="en-US" sz="1200" dirty="0">
              <a:latin typeface="Times New Roman" panose="02020603050405020304" pitchFamily="18" charset="0"/>
              <a:cs typeface="Times New Roman" panose="02020603050405020304" pitchFamily="18" charset="0"/>
            </a:endParaRPr>
          </a:p>
        </p:txBody>
      </p:sp>
      <p:sp>
        <p:nvSpPr>
          <p:cNvPr id="30" name="Shape 28"/>
          <p:cNvSpPr/>
          <p:nvPr/>
        </p:nvSpPr>
        <p:spPr>
          <a:xfrm>
            <a:off x="3200400" y="3886200"/>
            <a:ext cx="2743200" cy="731520"/>
          </a:xfrm>
          <a:prstGeom prst="rect">
            <a:avLst/>
          </a:prstGeom>
          <a:solidFill>
            <a:srgbClr val="CCF3F5"/>
          </a:solidFill>
          <a:ln w="12700">
            <a:solidFill>
              <a:srgbClr val="CCF3F5"/>
            </a:solidFill>
            <a:prstDash val="solid"/>
          </a:ln>
        </p:spPr>
      </p:sp>
      <p:sp>
        <p:nvSpPr>
          <p:cNvPr id="31" name="Text 29"/>
          <p:cNvSpPr/>
          <p:nvPr/>
        </p:nvSpPr>
        <p:spPr>
          <a:xfrm>
            <a:off x="3291840" y="388620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Admin panel</a:t>
            </a:r>
            <a:endParaRPr lang="en-US" sz="1200" dirty="0">
              <a:latin typeface="Times New Roman" panose="02020603050405020304" pitchFamily="18" charset="0"/>
              <a:cs typeface="Times New Roman" panose="02020603050405020304" pitchFamily="18" charset="0"/>
            </a:endParaRPr>
          </a:p>
        </p:txBody>
      </p:sp>
      <p:sp>
        <p:nvSpPr>
          <p:cNvPr id="32" name="Shape 30"/>
          <p:cNvSpPr/>
          <p:nvPr/>
        </p:nvSpPr>
        <p:spPr>
          <a:xfrm>
            <a:off x="6035040" y="3886200"/>
            <a:ext cx="2743200" cy="731520"/>
          </a:xfrm>
          <a:prstGeom prst="rect">
            <a:avLst/>
          </a:prstGeom>
          <a:solidFill>
            <a:srgbClr val="CCF3F5"/>
          </a:solidFill>
          <a:ln w="12700">
            <a:solidFill>
              <a:srgbClr val="CCF3F5"/>
            </a:solidFill>
            <a:prstDash val="solid"/>
          </a:ln>
        </p:spPr>
      </p:sp>
      <p:sp>
        <p:nvSpPr>
          <p:cNvPr id="33" name="Text 31"/>
          <p:cNvSpPr/>
          <p:nvPr/>
        </p:nvSpPr>
        <p:spPr>
          <a:xfrm>
            <a:off x="6126480" y="3886200"/>
            <a:ext cx="2560320" cy="731520"/>
          </a:xfrm>
          <a:prstGeom prst="rect">
            <a:avLst/>
          </a:prstGeom>
          <a:noFill/>
          <a:ln/>
        </p:spPr>
        <p:txBody>
          <a:bodyPr wrap="square" rtlCol="0" anchor="ctr"/>
          <a:lstStyle/>
          <a:p>
            <a:pPr marL="0" indent="0">
              <a:buNone/>
            </a:pPr>
            <a:r>
              <a:rPr lang="en-US" sz="1200" dirty="0">
                <a:solidFill>
                  <a:srgbClr val="1E293B"/>
                </a:solidFill>
                <a:latin typeface="Times New Roman" panose="02020603050405020304" pitchFamily="18" charset="0"/>
                <a:ea typeface="Calibri" pitchFamily="34" charset="-122"/>
                <a:cs typeface="Times New Roman" panose="02020603050405020304" pitchFamily="18" charset="0"/>
              </a:rPr>
              <a:t>Rentabelliktiń artıwı</a:t>
            </a:r>
            <a:endParaRPr lang="en-US" sz="1200" dirty="0">
              <a:latin typeface="Times New Roman" panose="02020603050405020304" pitchFamily="18" charset="0"/>
              <a:cs typeface="Times New Roman" panose="02020603050405020304" pitchFamily="18" charset="0"/>
            </a:endParaRPr>
          </a:p>
        </p:txBody>
      </p:sp>
      <p:sp>
        <p:nvSpPr>
          <p:cNvPr id="34" name="Text 32"/>
          <p:cNvSpPr/>
          <p:nvPr/>
        </p:nvSpPr>
        <p:spPr>
          <a:xfrm>
            <a:off x="365760" y="4663440"/>
            <a:ext cx="8412480" cy="365760"/>
          </a:xfrm>
          <a:prstGeom prst="rect">
            <a:avLst/>
          </a:prstGeom>
          <a:noFill/>
          <a:ln/>
        </p:spPr>
        <p:txBody>
          <a:bodyPr wrap="square" rtlCol="0" anchor="ctr"/>
          <a:lstStyle/>
          <a:p>
            <a:pPr marL="0" indent="0">
              <a:buNone/>
            </a:pPr>
            <a:r>
              <a:rPr lang="en-US" sz="1000" i="1" dirty="0">
                <a:solidFill>
                  <a:srgbClr val="64748B"/>
                </a:solidFill>
                <a:latin typeface="Times New Roman" panose="02020603050405020304" pitchFamily="18" charset="0"/>
                <a:ea typeface="Calibri" pitchFamily="34" charset="-122"/>
                <a:cs typeface="Times New Roman" panose="02020603050405020304" pitchFamily="18" charset="0"/>
              </a:rPr>
              <a:t>Sistema jıldıń 365 kúni, sutkanıń 24 saatı dawamında 99.9% waqıt islewi kerek. </a:t>
            </a:r>
            <a:r>
              <a:rPr lang="en-US" sz="1000" i="1" dirty="0" err="1">
                <a:solidFill>
                  <a:srgbClr val="64748B"/>
                </a:solidFill>
                <a:latin typeface="Times New Roman" panose="02020603050405020304" pitchFamily="18" charset="0"/>
                <a:ea typeface="Calibri" pitchFamily="34" charset="-122"/>
                <a:cs typeface="Times New Roman" panose="02020603050405020304" pitchFamily="18" charset="0"/>
              </a:rPr>
              <a:t>Tólemler</a:t>
            </a:r>
            <a:r>
              <a:rPr lang="en-US" sz="1000" i="1" dirty="0">
                <a:solidFill>
                  <a:srgbClr val="64748B"/>
                </a:solidFill>
                <a:latin typeface="Times New Roman" panose="02020603050405020304" pitchFamily="18" charset="0"/>
                <a:ea typeface="Calibri" pitchFamily="34" charset="-122"/>
                <a:cs typeface="Times New Roman" panose="02020603050405020304" pitchFamily="18" charset="0"/>
              </a:rPr>
              <a:t> </a:t>
            </a:r>
            <a:r>
              <a:rPr lang="en-US" sz="1000" i="1" dirty="0" err="1">
                <a:solidFill>
                  <a:srgbClr val="64748B"/>
                </a:solidFill>
                <a:latin typeface="Times New Roman" panose="02020603050405020304" pitchFamily="18" charset="0"/>
                <a:ea typeface="Calibri" pitchFamily="34" charset="-122"/>
                <a:cs typeface="Times New Roman" panose="02020603050405020304" pitchFamily="18" charset="0"/>
              </a:rPr>
              <a:t>qáwipsiz</a:t>
            </a:r>
            <a:r>
              <a:rPr lang="en-US" sz="1000" i="1" dirty="0">
                <a:solidFill>
                  <a:srgbClr val="64748B"/>
                </a:solidFill>
                <a:latin typeface="Times New Roman" panose="02020603050405020304" pitchFamily="18" charset="0"/>
                <a:ea typeface="Calibri" pitchFamily="34" charset="-122"/>
                <a:cs typeface="Times New Roman" panose="02020603050405020304" pitchFamily="18" charset="0"/>
              </a:rPr>
              <a:t> ótkiziledi (Payme, Click).</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5C63"/>
        </a:solidFill>
        <a:effectLst/>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14919B">
              <a:alpha val="40000"/>
            </a:srgbClr>
          </a:solidFill>
          <a:ln w="12700">
            <a:solidFill>
              <a:srgbClr val="14919B">
                <a:alpha val="40000"/>
              </a:srgbClr>
            </a:solidFill>
            <a:prstDash val="solid"/>
          </a:ln>
        </p:spPr>
      </p:sp>
      <p:sp>
        <p:nvSpPr>
          <p:cNvPr id="3" name="Text 1"/>
          <p:cNvSpPr/>
          <p:nvPr/>
        </p:nvSpPr>
        <p:spPr>
          <a:xfrm>
            <a:off x="457200" y="365760"/>
            <a:ext cx="8229600" cy="731520"/>
          </a:xfrm>
          <a:prstGeom prst="rect">
            <a:avLst/>
          </a:prstGeom>
          <a:noFill/>
          <a:ln/>
        </p:spPr>
        <p:txBody>
          <a:bodyPr wrap="square" rtlCol="0" anchor="ctr"/>
          <a:lstStyle/>
          <a:p>
            <a:pPr marL="0" indent="0">
              <a:buNone/>
            </a:pPr>
            <a:r>
              <a:rPr lang="en-US" sz="2800" b="1" dirty="0">
                <a:solidFill>
                  <a:srgbClr val="FFFFFF"/>
                </a:solidFill>
                <a:latin typeface="Times New Roman" panose="02020603050405020304" pitchFamily="18" charset="0"/>
                <a:ea typeface="Cambria" pitchFamily="34" charset="-122"/>
                <a:cs typeface="Times New Roman" panose="02020603050405020304" pitchFamily="18" charset="0"/>
              </a:rPr>
              <a:t>Kútilip atırǵan nátiyjeler</a:t>
            </a:r>
            <a:endParaRPr lang="en-US" sz="2800" dirty="0">
              <a:latin typeface="Times New Roman" panose="02020603050405020304" pitchFamily="18" charset="0"/>
              <a:cs typeface="Times New Roman" panose="02020603050405020304" pitchFamily="18" charset="0"/>
            </a:endParaRPr>
          </a:p>
        </p:txBody>
      </p:sp>
      <p:sp>
        <p:nvSpPr>
          <p:cNvPr id="4" name="Shape 2"/>
          <p:cNvSpPr/>
          <p:nvPr/>
        </p:nvSpPr>
        <p:spPr>
          <a:xfrm>
            <a:off x="457200" y="1280160"/>
            <a:ext cx="8229600" cy="658368"/>
          </a:xfrm>
          <a:prstGeom prst="roundRect">
            <a:avLst>
              <a:gd name="adj" fmla="val 13889"/>
            </a:avLst>
          </a:prstGeom>
          <a:solidFill>
            <a:srgbClr val="FFFFFF">
              <a:alpha val="10000"/>
            </a:srgbClr>
          </a:solidFill>
          <a:ln w="12700">
            <a:solidFill>
              <a:srgbClr val="FFFFFF">
                <a:alpha val="30000"/>
              </a:srgbClr>
            </a:solidFill>
            <a:prstDash val="solid"/>
          </a:ln>
        </p:spPr>
      </p:sp>
      <p:sp>
        <p:nvSpPr>
          <p:cNvPr id="5" name="Text 3"/>
          <p:cNvSpPr/>
          <p:nvPr/>
        </p:nvSpPr>
        <p:spPr>
          <a:xfrm>
            <a:off x="548640" y="1280160"/>
            <a:ext cx="640080" cy="658368"/>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234440" y="1325880"/>
            <a:ext cx="7223760" cy="56692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Tutınıwshılar sút ónimlerin dúkanǵa barmastan, úylerine turaqlı jetkerip alıw imkaniyatına iye boladı.</a:t>
            </a:r>
            <a:endParaRPr lang="en-US" sz="12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2039112"/>
            <a:ext cx="8229600" cy="658368"/>
          </a:xfrm>
          <a:prstGeom prst="roundRect">
            <a:avLst>
              <a:gd name="adj" fmla="val 13889"/>
            </a:avLst>
          </a:prstGeom>
          <a:solidFill>
            <a:srgbClr val="FFFFFF">
              <a:alpha val="10000"/>
            </a:srgbClr>
          </a:solidFill>
          <a:ln w="12700">
            <a:solidFill>
              <a:srgbClr val="FFFFFF">
                <a:alpha val="30000"/>
              </a:srgbClr>
            </a:solidFill>
            <a:prstDash val="solid"/>
          </a:ln>
        </p:spPr>
      </p:sp>
      <p:sp>
        <p:nvSpPr>
          <p:cNvPr id="8" name="Text 6"/>
          <p:cNvSpPr/>
          <p:nvPr/>
        </p:nvSpPr>
        <p:spPr>
          <a:xfrm>
            <a:off x="548640" y="2039112"/>
            <a:ext cx="640080" cy="658368"/>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1234440" y="2084832"/>
            <a:ext cx="7223760" cy="56692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Xalıqtıń waqtı únemlenedi hám kúndelikli satıp alıw procesi qolaylastırıladı.</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457200" y="2798064"/>
            <a:ext cx="8229600" cy="658368"/>
          </a:xfrm>
          <a:prstGeom prst="roundRect">
            <a:avLst>
              <a:gd name="adj" fmla="val 13889"/>
            </a:avLst>
          </a:prstGeom>
          <a:solidFill>
            <a:srgbClr val="FFFFFF">
              <a:alpha val="10000"/>
            </a:srgbClr>
          </a:solidFill>
          <a:ln w="12700">
            <a:solidFill>
              <a:srgbClr val="FFFFFF">
                <a:alpha val="30000"/>
              </a:srgbClr>
            </a:solidFill>
            <a:prstDash val="solid"/>
          </a:ln>
        </p:spPr>
      </p:sp>
      <p:sp>
        <p:nvSpPr>
          <p:cNvPr id="11" name="Text 9"/>
          <p:cNvSpPr/>
          <p:nvPr/>
        </p:nvSpPr>
        <p:spPr>
          <a:xfrm>
            <a:off x="548640" y="2798064"/>
            <a:ext cx="640080" cy="658368"/>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1234440" y="2843784"/>
            <a:ext cx="7223760" cy="56692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Islep shıǵarıwshılar hám fermerler óz ónimlerin tikkeley tutınıwshılarǵa jetkeriw imkanına iye boladı.</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457200" y="3557016"/>
            <a:ext cx="8229600" cy="658368"/>
          </a:xfrm>
          <a:prstGeom prst="roundRect">
            <a:avLst>
              <a:gd name="adj" fmla="val 13889"/>
            </a:avLst>
          </a:prstGeom>
          <a:solidFill>
            <a:srgbClr val="FFFFFF">
              <a:alpha val="10000"/>
            </a:srgbClr>
          </a:solidFill>
          <a:ln w="12700">
            <a:solidFill>
              <a:srgbClr val="FFFFFF">
                <a:alpha val="30000"/>
              </a:srgbClr>
            </a:solidFill>
            <a:prstDash val="solid"/>
          </a:ln>
        </p:spPr>
      </p:sp>
      <p:sp>
        <p:nvSpPr>
          <p:cNvPr id="14" name="Text 12"/>
          <p:cNvSpPr/>
          <p:nvPr/>
        </p:nvSpPr>
        <p:spPr>
          <a:xfrm>
            <a:off x="548640" y="3557016"/>
            <a:ext cx="640080" cy="658368"/>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1234440" y="3602736"/>
            <a:ext cx="7223760" cy="56692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Ónimlerdiń zaya bolıwı azayadı hám sawda procesi nátiyjelirek shólkemlestiriledi.</a:t>
            </a:r>
            <a:endParaRPr lang="en-US" sz="1200" dirty="0">
              <a:latin typeface="Times New Roman" panose="02020603050405020304" pitchFamily="18" charset="0"/>
              <a:cs typeface="Times New Roman" panose="02020603050405020304" pitchFamily="18" charset="0"/>
            </a:endParaRPr>
          </a:p>
        </p:txBody>
      </p:sp>
      <p:sp>
        <p:nvSpPr>
          <p:cNvPr id="16" name="Shape 14"/>
          <p:cNvSpPr/>
          <p:nvPr/>
        </p:nvSpPr>
        <p:spPr>
          <a:xfrm>
            <a:off x="457200" y="4315968"/>
            <a:ext cx="8229600" cy="658368"/>
          </a:xfrm>
          <a:prstGeom prst="roundRect">
            <a:avLst>
              <a:gd name="adj" fmla="val 13889"/>
            </a:avLst>
          </a:prstGeom>
          <a:solidFill>
            <a:srgbClr val="FFFFFF">
              <a:alpha val="10000"/>
            </a:srgbClr>
          </a:solidFill>
          <a:ln w="12700">
            <a:solidFill>
              <a:srgbClr val="FFFFFF">
                <a:alpha val="30000"/>
              </a:srgbClr>
            </a:solidFill>
            <a:prstDash val="solid"/>
          </a:ln>
        </p:spPr>
      </p:sp>
      <p:sp>
        <p:nvSpPr>
          <p:cNvPr id="17" name="Text 15"/>
          <p:cNvSpPr/>
          <p:nvPr/>
        </p:nvSpPr>
        <p:spPr>
          <a:xfrm>
            <a:off x="548640" y="4315968"/>
            <a:ext cx="640080" cy="658368"/>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1234440" y="4361688"/>
            <a:ext cx="7223760" cy="56692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Kishi biznes hám isbilermenliktiń rawajlanıwına unamlı tásir kórsetiledi.</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457200" y="4754880"/>
            <a:ext cx="8229600" cy="274320"/>
          </a:xfrm>
          <a:prstGeom prst="rect">
            <a:avLst/>
          </a:prstGeom>
          <a:noFill/>
          <a:ln/>
        </p:spPr>
        <p:txBody>
          <a:bodyPr wrap="square" rtlCol="0" anchor="ctr"/>
          <a:lstStyle/>
          <a:p>
            <a:pPr marL="0" indent="0" algn="ctr">
              <a:buNone/>
            </a:pPr>
            <a:r>
              <a:rPr lang="en-US" sz="1000" i="1" dirty="0">
                <a:solidFill>
                  <a:srgbClr val="F4A261"/>
                </a:solidFill>
                <a:latin typeface="Times New Roman" panose="02020603050405020304" pitchFamily="18" charset="0"/>
                <a:ea typeface="Calibri" pitchFamily="34" charset="-122"/>
                <a:cs typeface="Times New Roman" panose="02020603050405020304" pitchFamily="18" charset="0"/>
              </a:rPr>
              <a:t>SútliBozor — Qaraqalpaqstan bazarı ushın zamanagóy xızmet</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ait de vache frais en verre et verseuse sur table en bois | Photo Premium">
            <a:extLst>
              <a:ext uri="{FF2B5EF4-FFF2-40B4-BE49-F238E27FC236}">
                <a16:creationId xmlns:a16="http://schemas.microsoft.com/office/drawing/2014/main" id="{29A22009-2031-09B6-E9E5-1A5A6BAF4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9143999"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B315D3-C222-B0AD-F8BA-C2926DDB9076}"/>
              </a:ext>
            </a:extLst>
          </p:cNvPr>
          <p:cNvSpPr txBox="1"/>
          <p:nvPr/>
        </p:nvSpPr>
        <p:spPr>
          <a:xfrm>
            <a:off x="203981" y="742525"/>
            <a:ext cx="4628270" cy="2483629"/>
          </a:xfrm>
          <a:prstGeom prst="rect">
            <a:avLst/>
          </a:prstGeom>
          <a:noFill/>
        </p:spPr>
        <p:txBody>
          <a:bodyPr wrap="square">
            <a:spAutoFit/>
          </a:bodyPr>
          <a:lstStyle/>
          <a:p>
            <a:pPr marL="0" indent="0" algn="just">
              <a:lnSpc>
                <a:spcPct val="125000"/>
              </a:lnSpc>
              <a:buNone/>
            </a:pPr>
            <a:r>
              <a:rPr lang="uz-Latn-UZ"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Juwmaqlap aytqanda </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SútliBozor</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tutınıwshılarǵa</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qolaylı</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fermerlerge</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paydalı</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al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jámiyetke</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isenimli</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hám</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zamanagóy</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sút</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jetkerip</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beriw</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sistemasın</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usınıs</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etedi</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Bul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arqalı</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jergilikli</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fermer</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xojalıqları</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menen</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sheriklik</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ornatılıp</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kishi</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biznestiń</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rawajlanıwına</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da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tiykar</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 </a:t>
            </a:r>
            <a:r>
              <a:rPr lang="en-US" sz="1800" dirty="0" err="1">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jaratıladı</a:t>
            </a:r>
            <a:r>
              <a:rPr lang="en-US" sz="1800" dirty="0">
                <a:solidFill>
                  <a:schemeClr val="bg1"/>
                </a:solidFill>
                <a:highlight>
                  <a:srgbClr val="C0C0C0"/>
                </a:highlight>
                <a:latin typeface="Times New Roman" panose="02020603050405020304" pitchFamily="18" charset="0"/>
                <a:ea typeface="Calibri" pitchFamily="34" charset="-122"/>
                <a:cs typeface="Times New Roman" panose="02020603050405020304" pitchFamily="18" charset="0"/>
              </a:rPr>
              <a:t>.</a:t>
            </a:r>
            <a:endParaRPr lang="en-US" sz="1800" dirty="0">
              <a:solidFill>
                <a:schemeClr val="bg1"/>
              </a:solidFill>
              <a:highlight>
                <a:srgbClr val="C0C0C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751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571</Words>
  <Application>Microsoft Office PowerPoint</Application>
  <PresentationFormat>Экран (16:9)</PresentationFormat>
  <Paragraphs>105</Paragraphs>
  <Slides>11</Slides>
  <Notes>8</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11</vt:i4>
      </vt:variant>
    </vt:vector>
  </HeadingPairs>
  <TitlesOfParts>
    <vt:vector size="15" baseType="lpstr">
      <vt:lpstr>Arial</vt:lpstr>
      <vt:lpstr>Cambria</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Sút ónimlerin jazılıw tiykarında jetkerip beriw</dc:title>
  <dc:subject>PptxGenJS Presentation</dc:subject>
  <dc:creator>PptxGenJS</dc:creator>
  <cp:lastModifiedBy>Пользователь</cp:lastModifiedBy>
  <cp:revision>2</cp:revision>
  <dcterms:created xsi:type="dcterms:W3CDTF">2026-06-16T11:38:43Z</dcterms:created>
  <dcterms:modified xsi:type="dcterms:W3CDTF">2026-06-16T13:06:45Z</dcterms:modified>
</cp:coreProperties>
</file>